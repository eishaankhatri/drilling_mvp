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31520" y="110489"/>
            <a:ext cx="13167361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31520" y="1920239"/>
            <a:ext cx="13167361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071359" y="7408545"/>
            <a:ext cx="3413761" cy="4381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1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ext 0"/>
          <p:cNvSpPr txBox="1"/>
          <p:nvPr/>
        </p:nvSpPr>
        <p:spPr>
          <a:xfrm>
            <a:off x="6324124" y="2035493"/>
            <a:ext cx="7468552" cy="2084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Multi-Agent AI System for Risk-Aware, Explainable Hydrocarbon Exploration</a:t>
            </a:r>
          </a:p>
        </p:txBody>
      </p:sp>
      <p:sp>
        <p:nvSpPr>
          <p:cNvPr id="122" name="Text 1"/>
          <p:cNvSpPr txBox="1"/>
          <p:nvPr/>
        </p:nvSpPr>
        <p:spPr>
          <a:xfrm>
            <a:off x="6324124" y="4506516"/>
            <a:ext cx="7471334" cy="35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Explainable, risk-aware AI for faster and smarter hydrocarbon exploration.</a:t>
            </a:r>
          </a:p>
        </p:txBody>
      </p:sp>
      <p:sp>
        <p:nvSpPr>
          <p:cNvPr id="123" name="Text 2"/>
          <p:cNvSpPr txBox="1"/>
          <p:nvPr/>
        </p:nvSpPr>
        <p:spPr>
          <a:xfrm>
            <a:off x="6324124" y="5158740"/>
            <a:ext cx="6010214" cy="35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3000"/>
              </a:lnSpc>
              <a:defRPr b="1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Advisor:</a:t>
            </a:r>
            <a:r>
              <a:rPr b="0"/>
              <a:t> Dr. Ankur Pandey | RGIPT | IEW Hackathon 2026</a:t>
            </a:r>
          </a:p>
        </p:txBody>
      </p:sp>
      <p:sp>
        <p:nvSpPr>
          <p:cNvPr id="124" name="Text 3"/>
          <p:cNvSpPr txBox="1"/>
          <p:nvPr/>
        </p:nvSpPr>
        <p:spPr>
          <a:xfrm>
            <a:off x="6324124" y="5810963"/>
            <a:ext cx="7090929" cy="357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3000"/>
              </a:lnSpc>
              <a:defRPr b="1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Team:</a:t>
            </a:r>
            <a:r>
              <a:rPr b="0"/>
              <a:t> Prathamesh Dhote | Eishaan Khatri | Rahul Raj | Rajesh Yadav</a:t>
            </a:r>
          </a:p>
        </p:txBody>
      </p:sp>
      <p:sp>
        <p:nvSpPr>
          <p:cNvPr id="125" name="Freeform 3"/>
          <p:cNvSpPr/>
          <p:nvPr/>
        </p:nvSpPr>
        <p:spPr>
          <a:xfrm>
            <a:off x="9144002" y="-46395"/>
            <a:ext cx="5381296" cy="181268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Rectangle"/>
          <p:cNvSpPr/>
          <p:nvPr/>
        </p:nvSpPr>
        <p:spPr>
          <a:xfrm>
            <a:off x="12728031" y="7610462"/>
            <a:ext cx="2297164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 txBox="1"/>
          <p:nvPr/>
        </p:nvSpPr>
        <p:spPr>
          <a:xfrm>
            <a:off x="1710771" y="298178"/>
            <a:ext cx="11939752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The Challenge in Hydrocarbon Exploration</a:t>
            </a:r>
          </a:p>
        </p:txBody>
      </p:sp>
      <p:sp>
        <p:nvSpPr>
          <p:cNvPr id="129" name="Text 1"/>
          <p:cNvSpPr txBox="1"/>
          <p:nvPr/>
        </p:nvSpPr>
        <p:spPr>
          <a:xfrm>
            <a:off x="736994" y="1699365"/>
            <a:ext cx="1518705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Complexity</a:t>
            </a:r>
          </a:p>
        </p:txBody>
      </p:sp>
      <p:sp>
        <p:nvSpPr>
          <p:cNvPr id="130" name="Text 2"/>
          <p:cNvSpPr txBox="1"/>
          <p:nvPr/>
        </p:nvSpPr>
        <p:spPr>
          <a:xfrm>
            <a:off x="453078" y="2138841"/>
            <a:ext cx="2653851" cy="455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Traditional exploration methods struggle with vast geological data and uncertain subsurface conditions.</a:t>
            </a:r>
          </a:p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</a:p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Current ML models are black-box, domain-specific, and lack uncertainty &amp; ESG integration.</a:t>
            </a:r>
          </a:p>
        </p:txBody>
      </p:sp>
      <p:sp>
        <p:nvSpPr>
          <p:cNvPr id="131" name="Text 3"/>
          <p:cNvSpPr txBox="1"/>
          <p:nvPr/>
        </p:nvSpPr>
        <p:spPr>
          <a:xfrm>
            <a:off x="4094643" y="1699365"/>
            <a:ext cx="602879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Risk</a:t>
            </a:r>
          </a:p>
        </p:txBody>
      </p:sp>
      <p:sp>
        <p:nvSpPr>
          <p:cNvPr id="132" name="Text 4"/>
          <p:cNvSpPr txBox="1"/>
          <p:nvPr/>
        </p:nvSpPr>
        <p:spPr>
          <a:xfrm>
            <a:off x="3581804" y="2219325"/>
            <a:ext cx="2774731" cy="3790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High financial stakes demand accurate predictions to minimize costly drilling failures.</a:t>
            </a:r>
          </a:p>
          <a:p>
            <a:pPr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</a:p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Each exploration well can cost $50 M – $500 M, yet only ~30 % succeed.</a:t>
            </a:r>
          </a:p>
        </p:txBody>
      </p:sp>
      <p:sp>
        <p:nvSpPr>
          <p:cNvPr id="133" name="Text 5"/>
          <p:cNvSpPr txBox="1"/>
          <p:nvPr/>
        </p:nvSpPr>
        <p:spPr>
          <a:xfrm>
            <a:off x="7050166" y="1581649"/>
            <a:ext cx="851174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134" name="Text 6"/>
          <p:cNvSpPr txBox="1"/>
          <p:nvPr/>
        </p:nvSpPr>
        <p:spPr>
          <a:xfrm>
            <a:off x="6831410" y="2191366"/>
            <a:ext cx="2774731" cy="3405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Industry needs faster decision-making to stay competitive in dynamic energy markets.</a:t>
            </a:r>
          </a:p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</a:p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Poor decisions lead to non-productive drilling, CO₂ footprint, and financial loss</a:t>
            </a:r>
          </a:p>
        </p:txBody>
      </p:sp>
      <p:sp>
        <p:nvSpPr>
          <p:cNvPr id="135" name="TextBox 7"/>
          <p:cNvSpPr txBox="1"/>
          <p:nvPr/>
        </p:nvSpPr>
        <p:spPr>
          <a:xfrm>
            <a:off x="10253985" y="1414177"/>
            <a:ext cx="4232210" cy="33698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000"/>
              </a:lnSpc>
              <a:defRPr b="1"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pPr>
            <a:r>
              <a:t>Impact:</a:t>
            </a:r>
          </a:p>
          <a:p>
            <a:pPr marL="342900" indent="-342900">
              <a:lnSpc>
                <a:spcPts val="44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Uncertainty &amp; lack of interpretability</a:t>
            </a:r>
          </a:p>
          <a:p>
            <a:pPr marL="342900" indent="-342900">
              <a:lnSpc>
                <a:spcPts val="44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 Low trust from geoscientists.</a:t>
            </a:r>
          </a:p>
          <a:p>
            <a:pPr marL="342900" indent="-342900">
              <a:lnSpc>
                <a:spcPts val="44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Regulatory pressure demands transparent, risk-audited AI recommendations.</a:t>
            </a:r>
          </a:p>
        </p:txBody>
      </p:sp>
      <p:sp>
        <p:nvSpPr>
          <p:cNvPr id="136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 txBox="1"/>
          <p:nvPr/>
        </p:nvSpPr>
        <p:spPr>
          <a:xfrm>
            <a:off x="4996457" y="28180"/>
            <a:ext cx="5075189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Why Multi-Agent AI?</a:t>
            </a:r>
          </a:p>
        </p:txBody>
      </p:sp>
      <p:sp>
        <p:nvSpPr>
          <p:cNvPr id="139" name="Shape 1"/>
          <p:cNvSpPr/>
          <p:nvPr/>
        </p:nvSpPr>
        <p:spPr>
          <a:xfrm>
            <a:off x="837723" y="3165872"/>
            <a:ext cx="4158736" cy="3080624"/>
          </a:xfrm>
          <a:prstGeom prst="roundRect">
            <a:avLst>
              <a:gd name="adj" fmla="val 1166"/>
            </a:avLst>
          </a:prstGeom>
          <a:solidFill>
            <a:srgbClr val="F3E7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Shape 2"/>
          <p:cNvSpPr/>
          <p:nvPr/>
        </p:nvSpPr>
        <p:spPr>
          <a:xfrm>
            <a:off x="1077039" y="3405187"/>
            <a:ext cx="718067" cy="718067"/>
          </a:xfrm>
          <a:prstGeom prst="roundRect">
            <a:avLst>
              <a:gd name="adj" fmla="val 50000"/>
            </a:avLst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4444" y="3602592"/>
            <a:ext cx="323137" cy="323137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Text 3"/>
          <p:cNvSpPr txBox="1"/>
          <p:nvPr/>
        </p:nvSpPr>
        <p:spPr>
          <a:xfrm>
            <a:off x="1077038" y="4362568"/>
            <a:ext cx="3397425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Collaborative Intelligence</a:t>
            </a:r>
          </a:p>
        </p:txBody>
      </p:sp>
      <p:sp>
        <p:nvSpPr>
          <p:cNvPr id="143" name="Text 4"/>
          <p:cNvSpPr txBox="1"/>
          <p:nvPr/>
        </p:nvSpPr>
        <p:spPr>
          <a:xfrm>
            <a:off x="1077039" y="4858106"/>
            <a:ext cx="3680103" cy="1119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Multiple AI agents work together, each specializing in different aspects of exploration analysis.</a:t>
            </a:r>
          </a:p>
        </p:txBody>
      </p:sp>
      <p:sp>
        <p:nvSpPr>
          <p:cNvPr id="144" name="Shape 5"/>
          <p:cNvSpPr/>
          <p:nvPr/>
        </p:nvSpPr>
        <p:spPr>
          <a:xfrm>
            <a:off x="5235773" y="3165872"/>
            <a:ext cx="4158735" cy="3080624"/>
          </a:xfrm>
          <a:prstGeom prst="roundRect">
            <a:avLst>
              <a:gd name="adj" fmla="val 1166"/>
            </a:avLst>
          </a:prstGeom>
          <a:solidFill>
            <a:srgbClr val="F3E7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Shape 6"/>
          <p:cNvSpPr/>
          <p:nvPr/>
        </p:nvSpPr>
        <p:spPr>
          <a:xfrm>
            <a:off x="5475089" y="3405187"/>
            <a:ext cx="718067" cy="718067"/>
          </a:xfrm>
          <a:prstGeom prst="roundRect">
            <a:avLst>
              <a:gd name="adj" fmla="val 50000"/>
            </a:avLst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72494" y="3602592"/>
            <a:ext cx="323137" cy="323137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Text 7"/>
          <p:cNvSpPr txBox="1"/>
          <p:nvPr/>
        </p:nvSpPr>
        <p:spPr>
          <a:xfrm>
            <a:off x="5475089" y="4362568"/>
            <a:ext cx="2316523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Risk Assessment</a:t>
            </a:r>
          </a:p>
        </p:txBody>
      </p:sp>
      <p:sp>
        <p:nvSpPr>
          <p:cNvPr id="148" name="Text 8"/>
          <p:cNvSpPr txBox="1"/>
          <p:nvPr/>
        </p:nvSpPr>
        <p:spPr>
          <a:xfrm>
            <a:off x="5475089" y="4858106"/>
            <a:ext cx="3680104" cy="1119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Dedicated agents evaluate geological, financial, and operational risks in real-time.</a:t>
            </a:r>
          </a:p>
        </p:txBody>
      </p:sp>
      <p:sp>
        <p:nvSpPr>
          <p:cNvPr id="149" name="Shape 9"/>
          <p:cNvSpPr/>
          <p:nvPr/>
        </p:nvSpPr>
        <p:spPr>
          <a:xfrm>
            <a:off x="9633822" y="3165872"/>
            <a:ext cx="4158854" cy="3080624"/>
          </a:xfrm>
          <a:prstGeom prst="roundRect">
            <a:avLst>
              <a:gd name="adj" fmla="val 1166"/>
            </a:avLst>
          </a:prstGeom>
          <a:solidFill>
            <a:srgbClr val="F3E7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Shape 10"/>
          <p:cNvSpPr/>
          <p:nvPr/>
        </p:nvSpPr>
        <p:spPr>
          <a:xfrm>
            <a:off x="9873139" y="3405187"/>
            <a:ext cx="718067" cy="718067"/>
          </a:xfrm>
          <a:prstGeom prst="roundRect">
            <a:avLst>
              <a:gd name="adj" fmla="val 50000"/>
            </a:avLst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1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070544" y="3602592"/>
            <a:ext cx="323137" cy="32313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Text 11"/>
          <p:cNvSpPr txBox="1"/>
          <p:nvPr/>
        </p:nvSpPr>
        <p:spPr>
          <a:xfrm>
            <a:off x="9873139" y="4362568"/>
            <a:ext cx="1813794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Explainability</a:t>
            </a:r>
          </a:p>
        </p:txBody>
      </p:sp>
      <p:sp>
        <p:nvSpPr>
          <p:cNvPr id="153" name="Text 12"/>
          <p:cNvSpPr txBox="1"/>
          <p:nvPr/>
        </p:nvSpPr>
        <p:spPr>
          <a:xfrm>
            <a:off x="9873139" y="4858106"/>
            <a:ext cx="3680223" cy="1119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Transparent decision-making process shows how conclusions are reached, building trust.</a:t>
            </a:r>
          </a:p>
        </p:txBody>
      </p:sp>
      <p:sp>
        <p:nvSpPr>
          <p:cNvPr id="154" name="TextBox 6"/>
          <p:cNvSpPr txBox="1"/>
          <p:nvPr/>
        </p:nvSpPr>
        <p:spPr>
          <a:xfrm>
            <a:off x="-540802" y="914587"/>
            <a:ext cx="16707010" cy="774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700"/>
              </a:lnSpc>
              <a:defRPr sz="32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Explainable Multi-Agent Intelligence for Smarter Drilling</a:t>
            </a:r>
          </a:p>
        </p:txBody>
      </p:sp>
      <p:sp>
        <p:nvSpPr>
          <p:cNvPr id="155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pic>
        <p:nvPicPr>
          <p:cNvPr id="15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92964" y="-94595"/>
            <a:ext cx="5486401" cy="8229601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Text 0"/>
          <p:cNvSpPr txBox="1"/>
          <p:nvPr/>
        </p:nvSpPr>
        <p:spPr>
          <a:xfrm>
            <a:off x="837724" y="829508"/>
            <a:ext cx="7468552" cy="2084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Explainable Multi-Agent Intelligence for Smarter Drilling</a:t>
            </a:r>
          </a:p>
        </p:txBody>
      </p:sp>
      <p:sp>
        <p:nvSpPr>
          <p:cNvPr id="160" name="Text 1"/>
          <p:cNvSpPr txBox="1"/>
          <p:nvPr/>
        </p:nvSpPr>
        <p:spPr>
          <a:xfrm>
            <a:off x="837724" y="3300531"/>
            <a:ext cx="7468552" cy="1881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A cutting-edge AI system that combines four specialized agents—</a:t>
            </a:r>
            <a:r>
              <a:rPr b="1"/>
              <a:t>Seismic</a:t>
            </a:r>
            <a:r>
              <a:t>, </a:t>
            </a:r>
            <a:r>
              <a:rPr b="1"/>
              <a:t>Petrophysical</a:t>
            </a:r>
            <a:r>
              <a:t>, </a:t>
            </a:r>
            <a:r>
              <a:rPr b="1"/>
              <a:t>Reservoir</a:t>
            </a:r>
            <a:r>
              <a:t>, and </a:t>
            </a:r>
            <a:r>
              <a:rPr b="1"/>
              <a:t>Risk/ESG</a:t>
            </a:r>
            <a:r>
              <a:t>—to deliver trustworthy, explainable drilling decisions. </a:t>
            </a:r>
          </a:p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Each agent is trained on domain-specific data using advanced models including </a:t>
            </a:r>
            <a:r>
              <a:rPr b="1"/>
              <a:t>CNNs, XGBoost, and Bayesian Monte Carlo simulations</a:t>
            </a:r>
            <a:r>
              <a:t>.</a:t>
            </a:r>
          </a:p>
        </p:txBody>
      </p:sp>
      <p:sp>
        <p:nvSpPr>
          <p:cNvPr id="161" name="Text 2"/>
          <p:cNvSpPr txBox="1"/>
          <p:nvPr/>
        </p:nvSpPr>
        <p:spPr>
          <a:xfrm>
            <a:off x="837724" y="5484850"/>
            <a:ext cx="7468552" cy="2262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The system's </a:t>
            </a:r>
            <a:r>
              <a:rPr b="1"/>
              <a:t>Consensus Engine </a:t>
            </a:r>
            <a:r>
              <a:t>uses weighted voting, uncertainty fusion, and hard ESG veto logic to output ranked drill targets with confidence intervals, </a:t>
            </a:r>
            <a:r>
              <a:rPr b="1"/>
              <a:t>SHAP explanations, and NPV forecasts</a:t>
            </a:r>
            <a:r>
              <a:t>. </a:t>
            </a:r>
          </a:p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</a:p>
          <a:p>
            <a:pPr marL="342900" indent="-342900">
              <a:lnSpc>
                <a:spcPts val="3000"/>
              </a:lnSpc>
              <a:buSzPct val="100000"/>
              <a:buFont typeface="Arial"/>
              <a:buChar char="•"/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This approach </a:t>
            </a:r>
            <a:r>
              <a:rPr b="1"/>
              <a:t>ensures ESG-compliant, financially optimized exploration that engineers and investors can trust.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 txBox="1"/>
          <p:nvPr/>
        </p:nvSpPr>
        <p:spPr>
          <a:xfrm>
            <a:off x="788194" y="620791"/>
            <a:ext cx="6630014" cy="64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200"/>
              </a:lnSpc>
              <a:defRPr sz="41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Risk-Aware Decision Making</a:t>
            </a:r>
          </a:p>
        </p:txBody>
      </p:sp>
      <p:sp>
        <p:nvSpPr>
          <p:cNvPr id="164" name="Text 1"/>
          <p:cNvSpPr txBox="1"/>
          <p:nvPr/>
        </p:nvSpPr>
        <p:spPr>
          <a:xfrm>
            <a:off x="2304323" y="3196946"/>
            <a:ext cx="1131120" cy="575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4400"/>
              </a:lnSpc>
              <a:defRPr sz="44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35%</a:t>
            </a:r>
          </a:p>
        </p:txBody>
      </p:sp>
      <p:pic>
        <p:nvPicPr>
          <p:cNvPr id="16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0981" y="1789508"/>
            <a:ext cx="3377923" cy="3377924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Text 2"/>
          <p:cNvSpPr txBox="1"/>
          <p:nvPr/>
        </p:nvSpPr>
        <p:spPr>
          <a:xfrm>
            <a:off x="1981348" y="5448775"/>
            <a:ext cx="1777307" cy="322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0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Geological Risk</a:t>
            </a:r>
          </a:p>
        </p:txBody>
      </p:sp>
      <p:sp>
        <p:nvSpPr>
          <p:cNvPr id="167" name="Text 3"/>
          <p:cNvSpPr txBox="1"/>
          <p:nvPr/>
        </p:nvSpPr>
        <p:spPr>
          <a:xfrm>
            <a:off x="788193" y="5914906"/>
            <a:ext cx="4163617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Uncertainty in reservoir presence and quality</a:t>
            </a:r>
          </a:p>
        </p:txBody>
      </p:sp>
      <p:sp>
        <p:nvSpPr>
          <p:cNvPr id="168" name="Text 4"/>
          <p:cNvSpPr txBox="1"/>
          <p:nvPr/>
        </p:nvSpPr>
        <p:spPr>
          <a:xfrm>
            <a:off x="6749521" y="3196946"/>
            <a:ext cx="1131120" cy="575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4400"/>
              </a:lnSpc>
              <a:defRPr sz="44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25%</a:t>
            </a:r>
          </a:p>
        </p:txBody>
      </p:sp>
      <p:pic>
        <p:nvPicPr>
          <p:cNvPr id="16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26179" y="1789508"/>
            <a:ext cx="3377923" cy="3377924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Text 5"/>
          <p:cNvSpPr txBox="1"/>
          <p:nvPr/>
        </p:nvSpPr>
        <p:spPr>
          <a:xfrm>
            <a:off x="6497060" y="5448775"/>
            <a:ext cx="1636044" cy="322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0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Technical Risk</a:t>
            </a:r>
          </a:p>
        </p:txBody>
      </p:sp>
      <p:sp>
        <p:nvSpPr>
          <p:cNvPr id="171" name="Text 6"/>
          <p:cNvSpPr txBox="1"/>
          <p:nvPr/>
        </p:nvSpPr>
        <p:spPr>
          <a:xfrm>
            <a:off x="5658494" y="5914906"/>
            <a:ext cx="3313293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Drilling and operational challenges</a:t>
            </a:r>
          </a:p>
        </p:txBody>
      </p:sp>
      <p:sp>
        <p:nvSpPr>
          <p:cNvPr id="172" name="Text 7"/>
          <p:cNvSpPr txBox="1"/>
          <p:nvPr/>
        </p:nvSpPr>
        <p:spPr>
          <a:xfrm>
            <a:off x="11194600" y="3196946"/>
            <a:ext cx="1131120" cy="575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4400"/>
              </a:lnSpc>
              <a:defRPr sz="44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40%</a:t>
            </a:r>
          </a:p>
        </p:txBody>
      </p:sp>
      <p:pic>
        <p:nvPicPr>
          <p:cNvPr id="173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071258" y="1789508"/>
            <a:ext cx="3377924" cy="3377924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Text 8"/>
          <p:cNvSpPr txBox="1"/>
          <p:nvPr/>
        </p:nvSpPr>
        <p:spPr>
          <a:xfrm>
            <a:off x="10914104" y="5448775"/>
            <a:ext cx="1692351" cy="322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0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Economic Risk</a:t>
            </a:r>
          </a:p>
        </p:txBody>
      </p:sp>
      <p:sp>
        <p:nvSpPr>
          <p:cNvPr id="175" name="Text 9"/>
          <p:cNvSpPr txBox="1"/>
          <p:nvPr/>
        </p:nvSpPr>
        <p:spPr>
          <a:xfrm>
            <a:off x="9959893" y="5914906"/>
            <a:ext cx="3600774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Market conditions and project viability</a:t>
            </a:r>
          </a:p>
        </p:txBody>
      </p:sp>
      <p:sp>
        <p:nvSpPr>
          <p:cNvPr id="176" name="Text 10"/>
          <p:cNvSpPr txBox="1"/>
          <p:nvPr/>
        </p:nvSpPr>
        <p:spPr>
          <a:xfrm>
            <a:off x="788193" y="6888480"/>
            <a:ext cx="13054014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Our system quantifies and visualizes multiple risk dimensions, enabling stakeholders to make informed trade-offs between potential rewards and uncertainties.</a:t>
            </a:r>
          </a:p>
        </p:txBody>
      </p:sp>
      <p:sp>
        <p:nvSpPr>
          <p:cNvPr id="177" name="Rectangle"/>
          <p:cNvSpPr/>
          <p:nvPr/>
        </p:nvSpPr>
        <p:spPr>
          <a:xfrm>
            <a:off x="12728030" y="76231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 txBox="1"/>
          <p:nvPr/>
        </p:nvSpPr>
        <p:spPr>
          <a:xfrm>
            <a:off x="836175" y="657463"/>
            <a:ext cx="4981874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System Architecture</a:t>
            </a:r>
          </a:p>
        </p:txBody>
      </p:sp>
      <p:pic>
        <p:nvPicPr>
          <p:cNvPr id="18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6175" y="1837968"/>
            <a:ext cx="1194675" cy="1433513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Text 1"/>
          <p:cNvSpPr txBox="1"/>
          <p:nvPr/>
        </p:nvSpPr>
        <p:spPr>
          <a:xfrm>
            <a:off x="2269687" y="2076806"/>
            <a:ext cx="2606974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Data Ingestion Agent</a:t>
            </a:r>
          </a:p>
        </p:txBody>
      </p:sp>
      <p:sp>
        <p:nvSpPr>
          <p:cNvPr id="182" name="Text 2"/>
          <p:cNvSpPr txBox="1"/>
          <p:nvPr/>
        </p:nvSpPr>
        <p:spPr>
          <a:xfrm>
            <a:off x="2269687" y="2571512"/>
            <a:ext cx="7458610" cy="35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Collects and preprocesses seismic, geological, and historical drilling data.</a:t>
            </a:r>
          </a:p>
        </p:txBody>
      </p:sp>
      <p:pic>
        <p:nvPicPr>
          <p:cNvPr id="18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6175" y="3271480"/>
            <a:ext cx="1194675" cy="1433513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Text 3"/>
          <p:cNvSpPr txBox="1"/>
          <p:nvPr/>
        </p:nvSpPr>
        <p:spPr>
          <a:xfrm>
            <a:off x="2269687" y="3510319"/>
            <a:ext cx="1845582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Analysis Agent</a:t>
            </a:r>
          </a:p>
        </p:txBody>
      </p:sp>
      <p:sp>
        <p:nvSpPr>
          <p:cNvPr id="185" name="Text 4"/>
          <p:cNvSpPr txBox="1"/>
          <p:nvPr/>
        </p:nvSpPr>
        <p:spPr>
          <a:xfrm>
            <a:off x="2269687" y="4005024"/>
            <a:ext cx="7801956" cy="35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Applies machine learning models to identify potential hydrocarbon reservoirs.</a:t>
            </a:r>
          </a:p>
        </p:txBody>
      </p:sp>
      <p:pic>
        <p:nvPicPr>
          <p:cNvPr id="18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6175" y="4704993"/>
            <a:ext cx="1194675" cy="1433513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Text 5"/>
          <p:cNvSpPr txBox="1"/>
          <p:nvPr/>
        </p:nvSpPr>
        <p:spPr>
          <a:xfrm>
            <a:off x="2269687" y="4943831"/>
            <a:ext cx="2730849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Risk Evaluation Agent</a:t>
            </a:r>
          </a:p>
        </p:txBody>
      </p:sp>
      <p:sp>
        <p:nvSpPr>
          <p:cNvPr id="188" name="Text 6"/>
          <p:cNvSpPr txBox="1"/>
          <p:nvPr/>
        </p:nvSpPr>
        <p:spPr>
          <a:xfrm>
            <a:off x="2269687" y="5438537"/>
            <a:ext cx="7382707" cy="35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Assesses probability of success and potential hazards for each prospect.</a:t>
            </a:r>
          </a:p>
        </p:txBody>
      </p:sp>
      <p:pic>
        <p:nvPicPr>
          <p:cNvPr id="189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36175" y="6138505"/>
            <a:ext cx="1194675" cy="1433513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Text 7"/>
          <p:cNvSpPr txBox="1"/>
          <p:nvPr/>
        </p:nvSpPr>
        <p:spPr>
          <a:xfrm>
            <a:off x="2269687" y="6377344"/>
            <a:ext cx="2265364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Explanation Agent</a:t>
            </a:r>
          </a:p>
        </p:txBody>
      </p:sp>
      <p:sp>
        <p:nvSpPr>
          <p:cNvPr id="191" name="Text 8"/>
          <p:cNvSpPr txBox="1"/>
          <p:nvPr/>
        </p:nvSpPr>
        <p:spPr>
          <a:xfrm>
            <a:off x="2269687" y="6872048"/>
            <a:ext cx="7954989" cy="357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Generates human-readable reports detailing reasoning and recommendations.</a:t>
            </a:r>
          </a:p>
        </p:txBody>
      </p:sp>
      <p:sp>
        <p:nvSpPr>
          <p:cNvPr id="192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 txBox="1"/>
          <p:nvPr/>
        </p:nvSpPr>
        <p:spPr>
          <a:xfrm>
            <a:off x="837724" y="856773"/>
            <a:ext cx="4981873" cy="545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100"/>
              </a:lnSpc>
              <a:defRPr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195" name="Text 1"/>
          <p:cNvSpPr txBox="1"/>
          <p:nvPr/>
        </p:nvSpPr>
        <p:spPr>
          <a:xfrm>
            <a:off x="837724" y="1743788"/>
            <a:ext cx="13438585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6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Our multi-layered architecture processes diverse upstream data through specialized pipelines, delivering actionable intelligence with full explainability.</a:t>
            </a:r>
          </a:p>
        </p:txBody>
      </p:sp>
      <p:sp>
        <p:nvSpPr>
          <p:cNvPr id="196" name="Text 2"/>
          <p:cNvSpPr txBox="1"/>
          <p:nvPr/>
        </p:nvSpPr>
        <p:spPr>
          <a:xfrm>
            <a:off x="837723" y="2232898"/>
            <a:ext cx="210469" cy="264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3A3630"/>
                </a:solidFill>
                <a:latin typeface="Lora Light"/>
                <a:ea typeface="Lora Light"/>
                <a:cs typeface="Lora Light"/>
                <a:sym typeface="Lora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97" name="Shape 3"/>
          <p:cNvSpPr/>
          <p:nvPr/>
        </p:nvSpPr>
        <p:spPr>
          <a:xfrm>
            <a:off x="837723" y="2514956"/>
            <a:ext cx="6387705" cy="22861"/>
          </a:xfrm>
          <a:prstGeom prst="rect">
            <a:avLst/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4"/>
          <p:cNvSpPr txBox="1"/>
          <p:nvPr/>
        </p:nvSpPr>
        <p:spPr>
          <a:xfrm>
            <a:off x="837723" y="2650331"/>
            <a:ext cx="1029396" cy="2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Input Layer</a:t>
            </a:r>
          </a:p>
        </p:txBody>
      </p:sp>
      <p:sp>
        <p:nvSpPr>
          <p:cNvPr id="199" name="Text 5"/>
          <p:cNvSpPr txBox="1"/>
          <p:nvPr/>
        </p:nvSpPr>
        <p:spPr>
          <a:xfrm>
            <a:off x="837723" y="3021925"/>
            <a:ext cx="6387705" cy="823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3D seismic data (SEG-Y format), FORCE 2020 well logs (LAS), production histories, economic parameters, and comprehensive ESG datasets feed the system.</a:t>
            </a:r>
          </a:p>
        </p:txBody>
      </p:sp>
      <p:sp>
        <p:nvSpPr>
          <p:cNvPr id="200" name="Text 6"/>
          <p:cNvSpPr txBox="1"/>
          <p:nvPr/>
        </p:nvSpPr>
        <p:spPr>
          <a:xfrm>
            <a:off x="7404854" y="2232898"/>
            <a:ext cx="210468" cy="264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3A3630"/>
                </a:solidFill>
                <a:latin typeface="Lora Light"/>
                <a:ea typeface="Lora Light"/>
                <a:cs typeface="Lora Light"/>
                <a:sym typeface="Lora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01" name="Shape 7"/>
          <p:cNvSpPr/>
          <p:nvPr/>
        </p:nvSpPr>
        <p:spPr>
          <a:xfrm>
            <a:off x="7404854" y="2514956"/>
            <a:ext cx="6387823" cy="22861"/>
          </a:xfrm>
          <a:prstGeom prst="rect">
            <a:avLst/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8"/>
          <p:cNvSpPr txBox="1"/>
          <p:nvPr/>
        </p:nvSpPr>
        <p:spPr>
          <a:xfrm>
            <a:off x="7404854" y="2650331"/>
            <a:ext cx="1898948" cy="2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Processing Pipelines</a:t>
            </a:r>
          </a:p>
        </p:txBody>
      </p:sp>
      <p:sp>
        <p:nvSpPr>
          <p:cNvPr id="203" name="Text 9"/>
          <p:cNvSpPr txBox="1"/>
          <p:nvPr/>
        </p:nvSpPr>
        <p:spPr>
          <a:xfrm>
            <a:off x="7404854" y="3021925"/>
            <a:ext cx="6387823" cy="543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Automated data ingestion, cleaning, normalization, and attribute extraction populate a centralized feature store for agent consumption.</a:t>
            </a:r>
          </a:p>
        </p:txBody>
      </p:sp>
      <p:sp>
        <p:nvSpPr>
          <p:cNvPr id="204" name="Text 10"/>
          <p:cNvSpPr txBox="1"/>
          <p:nvPr/>
        </p:nvSpPr>
        <p:spPr>
          <a:xfrm>
            <a:off x="837723" y="3910250"/>
            <a:ext cx="210469" cy="264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3A3630"/>
                </a:solidFill>
                <a:latin typeface="Lora Light"/>
                <a:ea typeface="Lora Light"/>
                <a:cs typeface="Lora Light"/>
                <a:sym typeface="Lora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05" name="Shape 11"/>
          <p:cNvSpPr/>
          <p:nvPr/>
        </p:nvSpPr>
        <p:spPr>
          <a:xfrm>
            <a:off x="837723" y="4192309"/>
            <a:ext cx="6387705" cy="22861"/>
          </a:xfrm>
          <a:prstGeom prst="rect">
            <a:avLst/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12"/>
          <p:cNvSpPr txBox="1"/>
          <p:nvPr/>
        </p:nvSpPr>
        <p:spPr>
          <a:xfrm>
            <a:off x="837723" y="4327683"/>
            <a:ext cx="1108473" cy="2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Agent Layer</a:t>
            </a:r>
          </a:p>
        </p:txBody>
      </p:sp>
      <p:sp>
        <p:nvSpPr>
          <p:cNvPr id="207" name="Text 13"/>
          <p:cNvSpPr txBox="1"/>
          <p:nvPr/>
        </p:nvSpPr>
        <p:spPr>
          <a:xfrm>
            <a:off x="837723" y="4699277"/>
            <a:ext cx="6387705" cy="823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Four specialized agents analyze data: </a:t>
            </a:r>
            <a:r>
              <a:rPr b="1"/>
              <a:t>Seismic Agent (CNN + Attention), Petrophysical Agent (XGBoost + CNN), Reservoir Agent (ResCNN + MLP), and Risk/ESG Agent (Bayesian Monte Carlo).</a:t>
            </a:r>
          </a:p>
        </p:txBody>
      </p:sp>
      <p:sp>
        <p:nvSpPr>
          <p:cNvPr id="208" name="Text 14"/>
          <p:cNvSpPr txBox="1"/>
          <p:nvPr/>
        </p:nvSpPr>
        <p:spPr>
          <a:xfrm>
            <a:off x="7404854" y="3910250"/>
            <a:ext cx="210468" cy="264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3A3630"/>
                </a:solidFill>
                <a:latin typeface="Lora Light"/>
                <a:ea typeface="Lora Light"/>
                <a:cs typeface="Lora Light"/>
                <a:sym typeface="Lora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09" name="Shape 15"/>
          <p:cNvSpPr/>
          <p:nvPr/>
        </p:nvSpPr>
        <p:spPr>
          <a:xfrm>
            <a:off x="7404854" y="4192309"/>
            <a:ext cx="6387823" cy="22861"/>
          </a:xfrm>
          <a:prstGeom prst="rect">
            <a:avLst/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16"/>
          <p:cNvSpPr txBox="1"/>
          <p:nvPr/>
        </p:nvSpPr>
        <p:spPr>
          <a:xfrm>
            <a:off x="7404854" y="4327683"/>
            <a:ext cx="1594049" cy="2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Consensus Layer</a:t>
            </a:r>
          </a:p>
        </p:txBody>
      </p:sp>
      <p:sp>
        <p:nvSpPr>
          <p:cNvPr id="211" name="Text 17"/>
          <p:cNvSpPr txBox="1"/>
          <p:nvPr/>
        </p:nvSpPr>
        <p:spPr>
          <a:xfrm>
            <a:off x="7404854" y="4699277"/>
            <a:ext cx="6387823" cy="54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Confidence-weighted fusion (w = 1/σ²) integrates agent outputs, SHAP attribution explains feature importance, and ESG veto ensures compliance.</a:t>
            </a:r>
          </a:p>
        </p:txBody>
      </p:sp>
      <p:sp>
        <p:nvSpPr>
          <p:cNvPr id="212" name="Text 18"/>
          <p:cNvSpPr txBox="1"/>
          <p:nvPr/>
        </p:nvSpPr>
        <p:spPr>
          <a:xfrm>
            <a:off x="837723" y="5874782"/>
            <a:ext cx="210469" cy="264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3A3630"/>
                </a:solidFill>
                <a:latin typeface="Lora Light"/>
                <a:ea typeface="Lora Light"/>
                <a:cs typeface="Lora Light"/>
                <a:sym typeface="Lora Light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13" name="Shape 19"/>
          <p:cNvSpPr/>
          <p:nvPr/>
        </p:nvSpPr>
        <p:spPr>
          <a:xfrm>
            <a:off x="837723" y="6156840"/>
            <a:ext cx="6387705" cy="22861"/>
          </a:xfrm>
          <a:prstGeom prst="rect">
            <a:avLst/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20"/>
          <p:cNvSpPr txBox="1"/>
          <p:nvPr/>
        </p:nvSpPr>
        <p:spPr>
          <a:xfrm>
            <a:off x="837723" y="6292215"/>
            <a:ext cx="972742" cy="2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LLM Layer</a:t>
            </a:r>
          </a:p>
        </p:txBody>
      </p:sp>
      <p:sp>
        <p:nvSpPr>
          <p:cNvPr id="215" name="Text 21"/>
          <p:cNvSpPr txBox="1"/>
          <p:nvPr/>
        </p:nvSpPr>
        <p:spPr>
          <a:xfrm>
            <a:off x="837723" y="6663808"/>
            <a:ext cx="6387705" cy="823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Structured prompts containing agent summaries, uncertainties, and geological maps enable reasoning, consistency checking, and human-readable report generation.</a:t>
            </a:r>
          </a:p>
        </p:txBody>
      </p:sp>
      <p:sp>
        <p:nvSpPr>
          <p:cNvPr id="216" name="Text 22"/>
          <p:cNvSpPr txBox="1"/>
          <p:nvPr/>
        </p:nvSpPr>
        <p:spPr>
          <a:xfrm>
            <a:off x="7404854" y="5874782"/>
            <a:ext cx="210468" cy="264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3A3630"/>
                </a:solidFill>
                <a:latin typeface="Lora Light"/>
                <a:ea typeface="Lora Light"/>
                <a:cs typeface="Lora Light"/>
                <a:sym typeface="Lora Light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217" name="Shape 23"/>
          <p:cNvSpPr/>
          <p:nvPr/>
        </p:nvSpPr>
        <p:spPr>
          <a:xfrm>
            <a:off x="7404854" y="6156840"/>
            <a:ext cx="6387823" cy="22861"/>
          </a:xfrm>
          <a:prstGeom prst="rect">
            <a:avLst/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24"/>
          <p:cNvSpPr txBox="1"/>
          <p:nvPr/>
        </p:nvSpPr>
        <p:spPr>
          <a:xfrm>
            <a:off x="7404854" y="6292215"/>
            <a:ext cx="1187451" cy="2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Output Layer</a:t>
            </a:r>
          </a:p>
        </p:txBody>
      </p:sp>
      <p:sp>
        <p:nvSpPr>
          <p:cNvPr id="219" name="Text 25"/>
          <p:cNvSpPr txBox="1"/>
          <p:nvPr/>
        </p:nvSpPr>
        <p:spPr>
          <a:xfrm>
            <a:off x="7404854" y="6663808"/>
            <a:ext cx="6387823" cy="54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Ranked drill targets, uncertainty bands, NPV distributions, and interactive dashboards with chatbot support deliver actionable recommendations.</a:t>
            </a:r>
          </a:p>
        </p:txBody>
      </p:sp>
      <p:sp>
        <p:nvSpPr>
          <p:cNvPr id="220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 txBox="1"/>
          <p:nvPr/>
        </p:nvSpPr>
        <p:spPr>
          <a:xfrm>
            <a:off x="4567242" y="592753"/>
            <a:ext cx="4300290" cy="545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100"/>
              </a:lnSpc>
              <a:defRPr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Inside the Agents</a:t>
            </a:r>
          </a:p>
        </p:txBody>
      </p:sp>
      <p:sp>
        <p:nvSpPr>
          <p:cNvPr id="223" name="Freeform 2"/>
          <p:cNvSpPr/>
          <p:nvPr/>
        </p:nvSpPr>
        <p:spPr>
          <a:xfrm>
            <a:off x="1283410" y="1570813"/>
            <a:ext cx="12309300" cy="487108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Text 0"/>
          <p:cNvSpPr txBox="1"/>
          <p:nvPr/>
        </p:nvSpPr>
        <p:spPr>
          <a:xfrm>
            <a:off x="272645" y="694476"/>
            <a:ext cx="10201251" cy="494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600"/>
              </a:lnSpc>
              <a:defRPr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Data Foundation &amp; Implementation Scale</a:t>
            </a:r>
          </a:p>
        </p:txBody>
      </p:sp>
      <p:sp>
        <p:nvSpPr>
          <p:cNvPr id="228" name="Text 1"/>
          <p:cNvSpPr txBox="1"/>
          <p:nvPr/>
        </p:nvSpPr>
        <p:spPr>
          <a:xfrm>
            <a:off x="837723" y="1748314"/>
            <a:ext cx="2236194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FORCE 2020 Dataset</a:t>
            </a:r>
          </a:p>
        </p:txBody>
      </p:sp>
      <p:sp>
        <p:nvSpPr>
          <p:cNvPr id="229" name="Text 2"/>
          <p:cNvSpPr txBox="1"/>
          <p:nvPr/>
        </p:nvSpPr>
        <p:spPr>
          <a:xfrm>
            <a:off x="837724" y="2178367"/>
            <a:ext cx="4329232" cy="710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Norwegian Continental Shelf data comprising 98 wells with approximately 75,000 analysis windows generated using 50-sample windows with 50% overlap for comprehensive coverage.</a:t>
            </a:r>
          </a:p>
        </p:txBody>
      </p:sp>
      <p:sp>
        <p:nvSpPr>
          <p:cNvPr id="230" name="Text 3"/>
          <p:cNvSpPr txBox="1"/>
          <p:nvPr/>
        </p:nvSpPr>
        <p:spPr>
          <a:xfrm>
            <a:off x="837723" y="3080741"/>
            <a:ext cx="1951734" cy="229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800"/>
              </a:lnSpc>
              <a:defRPr sz="16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Log Curves (10 Total)</a:t>
            </a:r>
          </a:p>
        </p:txBody>
      </p:sp>
      <p:sp>
        <p:nvSpPr>
          <p:cNvPr id="231" name="Text 4"/>
          <p:cNvSpPr txBox="1"/>
          <p:nvPr/>
        </p:nvSpPr>
        <p:spPr>
          <a:xfrm>
            <a:off x="837724" y="3464957"/>
            <a:ext cx="4329232" cy="7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GR, NPHI, RHOB, DTC, DTS, RDEP, RMED, PEF, CALI, BS — covering the full spectrum of petrophysical measurements required for robust lithology identification.</a:t>
            </a:r>
          </a:p>
        </p:txBody>
      </p:sp>
      <p:sp>
        <p:nvSpPr>
          <p:cNvPr id="232" name="Text 5"/>
          <p:cNvSpPr txBox="1"/>
          <p:nvPr/>
        </p:nvSpPr>
        <p:spPr>
          <a:xfrm>
            <a:off x="5554147" y="1748314"/>
            <a:ext cx="1406191" cy="22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800"/>
              </a:lnSpc>
              <a:defRPr sz="1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Lithology Classes</a:t>
            </a:r>
          </a:p>
        </p:txBody>
      </p:sp>
      <p:sp>
        <p:nvSpPr>
          <p:cNvPr id="233" name="Text 6"/>
          <p:cNvSpPr txBox="1"/>
          <p:nvPr/>
        </p:nvSpPr>
        <p:spPr>
          <a:xfrm>
            <a:off x="5554147" y="2132527"/>
            <a:ext cx="1084337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900"/>
              </a:lnSpc>
              <a:buSzPct val="100000"/>
              <a:buAutoNum type="arabicPeriod" startAt="1"/>
              <a:defRPr sz="1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Sandstone</a:t>
            </a:r>
          </a:p>
        </p:txBody>
      </p:sp>
      <p:sp>
        <p:nvSpPr>
          <p:cNvPr id="234" name="Text 7"/>
          <p:cNvSpPr txBox="1"/>
          <p:nvPr/>
        </p:nvSpPr>
        <p:spPr>
          <a:xfrm>
            <a:off x="5554147" y="2435899"/>
            <a:ext cx="1033289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900"/>
              </a:lnSpc>
              <a:buSzPct val="100000"/>
              <a:buAutoNum type="arabicPeriod" startAt="2"/>
              <a:defRPr sz="1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Claystone</a:t>
            </a:r>
          </a:p>
        </p:txBody>
      </p:sp>
      <p:sp>
        <p:nvSpPr>
          <p:cNvPr id="235" name="Text 8"/>
          <p:cNvSpPr txBox="1"/>
          <p:nvPr/>
        </p:nvSpPr>
        <p:spPr>
          <a:xfrm>
            <a:off x="5554147" y="2739270"/>
            <a:ext cx="745233" cy="22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900"/>
              </a:lnSpc>
              <a:buSzPct val="100000"/>
              <a:buAutoNum type="arabicPeriod" startAt="3"/>
              <a:defRPr sz="1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Chalk</a:t>
            </a:r>
          </a:p>
        </p:txBody>
      </p:sp>
      <p:sp>
        <p:nvSpPr>
          <p:cNvPr id="236" name="Text 9"/>
          <p:cNvSpPr txBox="1"/>
          <p:nvPr/>
        </p:nvSpPr>
        <p:spPr>
          <a:xfrm>
            <a:off x="5554147" y="3042641"/>
            <a:ext cx="651917" cy="22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900"/>
              </a:lnSpc>
              <a:buSzPct val="100000"/>
              <a:buAutoNum type="arabicPeriod" startAt="4"/>
              <a:defRPr sz="1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Marl</a:t>
            </a:r>
          </a:p>
        </p:txBody>
      </p:sp>
      <p:sp>
        <p:nvSpPr>
          <p:cNvPr id="237" name="Text 10"/>
          <p:cNvSpPr txBox="1"/>
          <p:nvPr/>
        </p:nvSpPr>
        <p:spPr>
          <a:xfrm>
            <a:off x="5554147" y="3346012"/>
            <a:ext cx="956941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900"/>
              </a:lnSpc>
              <a:buSzPct val="100000"/>
              <a:buAutoNum type="arabicPeriod" startAt="5"/>
              <a:defRPr sz="1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Dolomite</a:t>
            </a:r>
          </a:p>
        </p:txBody>
      </p:sp>
      <p:sp>
        <p:nvSpPr>
          <p:cNvPr id="238" name="Text 11"/>
          <p:cNvSpPr txBox="1"/>
          <p:nvPr/>
        </p:nvSpPr>
        <p:spPr>
          <a:xfrm>
            <a:off x="5554147" y="3649384"/>
            <a:ext cx="745233" cy="22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900"/>
              </a:lnSpc>
              <a:buSzPct val="100000"/>
              <a:buAutoNum type="arabicPeriod" startAt="6"/>
              <a:defRPr sz="1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Halite</a:t>
            </a:r>
          </a:p>
        </p:txBody>
      </p:sp>
      <p:pic>
        <p:nvPicPr>
          <p:cNvPr id="23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7723" y="4526874"/>
            <a:ext cx="777955" cy="933570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Text 12"/>
          <p:cNvSpPr txBox="1"/>
          <p:nvPr/>
        </p:nvSpPr>
        <p:spPr>
          <a:xfrm>
            <a:off x="1771174" y="4682371"/>
            <a:ext cx="1001019" cy="22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800"/>
              </a:lnSpc>
              <a:defRPr sz="14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LAS Parsing</a:t>
            </a:r>
          </a:p>
        </p:txBody>
      </p:sp>
      <p:sp>
        <p:nvSpPr>
          <p:cNvPr id="241" name="Text 13"/>
          <p:cNvSpPr txBox="1"/>
          <p:nvPr/>
        </p:nvSpPr>
        <p:spPr>
          <a:xfrm>
            <a:off x="1771174" y="5004434"/>
            <a:ext cx="4638130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95% success rate in automated data extraction and format validation</a:t>
            </a:r>
          </a:p>
        </p:txBody>
      </p:sp>
      <p:pic>
        <p:nvPicPr>
          <p:cNvPr id="242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7723" y="5460443"/>
            <a:ext cx="777955" cy="933570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Text 14"/>
          <p:cNvSpPr txBox="1"/>
          <p:nvPr/>
        </p:nvSpPr>
        <p:spPr>
          <a:xfrm>
            <a:off x="1771174" y="5615940"/>
            <a:ext cx="1317117" cy="22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800"/>
              </a:lnSpc>
              <a:defRPr sz="14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Sliding Windows</a:t>
            </a:r>
          </a:p>
        </p:txBody>
      </p:sp>
      <p:sp>
        <p:nvSpPr>
          <p:cNvPr id="244" name="Text 15"/>
          <p:cNvSpPr txBox="1"/>
          <p:nvPr/>
        </p:nvSpPr>
        <p:spPr>
          <a:xfrm>
            <a:off x="1771174" y="5938003"/>
            <a:ext cx="5188794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50 samples per window, 25-sample stride generating 70 features per window</a:t>
            </a:r>
          </a:p>
        </p:txBody>
      </p:sp>
      <p:pic>
        <p:nvPicPr>
          <p:cNvPr id="245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37723" y="6394012"/>
            <a:ext cx="777955" cy="933570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Text 16"/>
          <p:cNvSpPr txBox="1"/>
          <p:nvPr/>
        </p:nvSpPr>
        <p:spPr>
          <a:xfrm>
            <a:off x="1771174" y="6549508"/>
            <a:ext cx="1099642" cy="22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800"/>
              </a:lnSpc>
              <a:defRPr sz="14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Normalization</a:t>
            </a:r>
          </a:p>
        </p:txBody>
      </p:sp>
      <p:sp>
        <p:nvSpPr>
          <p:cNvPr id="247" name="Text 17"/>
          <p:cNvSpPr txBox="1"/>
          <p:nvPr/>
        </p:nvSpPr>
        <p:spPr>
          <a:xfrm>
            <a:off x="1771174" y="6871572"/>
            <a:ext cx="4510882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0–1 scaling with stratified split: 70% train, 15% validation, 15% test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 txBox="1"/>
          <p:nvPr/>
        </p:nvSpPr>
        <p:spPr>
          <a:xfrm>
            <a:off x="837723" y="958809"/>
            <a:ext cx="4166315" cy="58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700"/>
              </a:lnSpc>
              <a:defRPr sz="37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Petrophysical Agent</a:t>
            </a:r>
          </a:p>
        </p:txBody>
      </p:sp>
      <p:sp>
        <p:nvSpPr>
          <p:cNvPr id="250" name="Text 1"/>
          <p:cNvSpPr txBox="1"/>
          <p:nvPr/>
        </p:nvSpPr>
        <p:spPr>
          <a:xfrm>
            <a:off x="837724" y="1675852"/>
            <a:ext cx="13291840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6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The Petrophysical Agent combines deep learning with gradient-boosted trees to classify lithology from well log signatures with exceptional accuracy.</a:t>
            </a:r>
          </a:p>
        </p:txBody>
      </p:sp>
      <p:sp>
        <p:nvSpPr>
          <p:cNvPr id="251" name="Text 2"/>
          <p:cNvSpPr txBox="1"/>
          <p:nvPr/>
        </p:nvSpPr>
        <p:spPr>
          <a:xfrm>
            <a:off x="837723" y="2721768"/>
            <a:ext cx="1906018" cy="286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Model Architecture</a:t>
            </a:r>
          </a:p>
        </p:txBody>
      </p:sp>
      <p:sp>
        <p:nvSpPr>
          <p:cNvPr id="252" name="Text 3"/>
          <p:cNvSpPr txBox="1"/>
          <p:nvPr/>
        </p:nvSpPr>
        <p:spPr>
          <a:xfrm>
            <a:off x="837723" y="3224332"/>
            <a:ext cx="6066236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6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1D CNN with attention mechanisms paired with XGBoost ensemble</a:t>
            </a:r>
          </a:p>
        </p:txBody>
      </p:sp>
      <p:sp>
        <p:nvSpPr>
          <p:cNvPr id="253" name="Text 4"/>
          <p:cNvSpPr txBox="1"/>
          <p:nvPr/>
        </p:nvSpPr>
        <p:spPr>
          <a:xfrm>
            <a:off x="837723" y="3753206"/>
            <a:ext cx="2121447" cy="286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Performance Metrics</a:t>
            </a:r>
          </a:p>
        </p:txBody>
      </p:sp>
      <p:sp>
        <p:nvSpPr>
          <p:cNvPr id="254" name="Text 5"/>
          <p:cNvSpPr txBox="1"/>
          <p:nvPr/>
        </p:nvSpPr>
        <p:spPr>
          <a:xfrm>
            <a:off x="837723" y="4255770"/>
            <a:ext cx="2569271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6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Overall Accuracy: </a:t>
            </a:r>
            <a:r>
              <a:rPr b="1"/>
              <a:t>85.2%</a:t>
            </a:r>
          </a:p>
        </p:txBody>
      </p:sp>
      <p:sp>
        <p:nvSpPr>
          <p:cNvPr id="255" name="Text 6"/>
          <p:cNvSpPr txBox="1"/>
          <p:nvPr/>
        </p:nvSpPr>
        <p:spPr>
          <a:xfrm>
            <a:off x="837723" y="4652486"/>
            <a:ext cx="1688407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6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F1 Score: </a:t>
            </a:r>
            <a:r>
              <a:rPr b="1"/>
              <a:t>0.84</a:t>
            </a:r>
          </a:p>
        </p:txBody>
      </p:sp>
      <p:sp>
        <p:nvSpPr>
          <p:cNvPr id="256" name="Text 7"/>
          <p:cNvSpPr txBox="1"/>
          <p:nvPr/>
        </p:nvSpPr>
        <p:spPr>
          <a:xfrm>
            <a:off x="837723" y="5049203"/>
            <a:ext cx="2699049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6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Model Parameters: ~2.1M</a:t>
            </a:r>
          </a:p>
        </p:txBody>
      </p:sp>
      <p:sp>
        <p:nvSpPr>
          <p:cNvPr id="257" name="Text 8"/>
          <p:cNvSpPr txBox="1"/>
          <p:nvPr/>
        </p:nvSpPr>
        <p:spPr>
          <a:xfrm>
            <a:off x="837723" y="5578078"/>
            <a:ext cx="1905795" cy="286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Top Classifications</a:t>
            </a:r>
          </a:p>
        </p:txBody>
      </p:sp>
      <p:sp>
        <p:nvSpPr>
          <p:cNvPr id="258" name="Text 9"/>
          <p:cNvSpPr txBox="1"/>
          <p:nvPr/>
        </p:nvSpPr>
        <p:spPr>
          <a:xfrm>
            <a:off x="837723" y="6080640"/>
            <a:ext cx="2716412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6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Sandstone: 89% accuracy</a:t>
            </a:r>
          </a:p>
        </p:txBody>
      </p:sp>
      <p:sp>
        <p:nvSpPr>
          <p:cNvPr id="259" name="Text 10"/>
          <p:cNvSpPr txBox="1"/>
          <p:nvPr/>
        </p:nvSpPr>
        <p:spPr>
          <a:xfrm>
            <a:off x="837723" y="6477356"/>
            <a:ext cx="2264273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6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Halite: 91% accuracy</a:t>
            </a:r>
          </a:p>
        </p:txBody>
      </p:sp>
      <p:sp>
        <p:nvSpPr>
          <p:cNvPr id="260" name="Text 11"/>
          <p:cNvSpPr txBox="1"/>
          <p:nvPr/>
        </p:nvSpPr>
        <p:spPr>
          <a:xfrm>
            <a:off x="837723" y="6874072"/>
            <a:ext cx="2648348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6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Claystone: 82% accuracy</a:t>
            </a:r>
          </a:p>
        </p:txBody>
      </p:sp>
      <p:pic>
        <p:nvPicPr>
          <p:cNvPr id="26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56286" y="3904516"/>
            <a:ext cx="4166314" cy="1796672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Text 12"/>
          <p:cNvSpPr txBox="1"/>
          <p:nvPr/>
        </p:nvSpPr>
        <p:spPr>
          <a:xfrm>
            <a:off x="6522505" y="6960169"/>
            <a:ext cx="6229351" cy="935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6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The model demonstrates robust performance across diverse lithological classes, with MC Dropout (20 iterations) providing reliable uncertainty quantification for downstream decision-making.</a:t>
            </a:r>
          </a:p>
        </p:txBody>
      </p:sp>
      <p:sp>
        <p:nvSpPr>
          <p:cNvPr id="263" name="Freeform 3"/>
          <p:cNvSpPr/>
          <p:nvPr/>
        </p:nvSpPr>
        <p:spPr>
          <a:xfrm>
            <a:off x="8439124" y="2721768"/>
            <a:ext cx="5927589" cy="407435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Box 7"/>
          <p:cNvSpPr txBox="1"/>
          <p:nvPr/>
        </p:nvSpPr>
        <p:spPr>
          <a:xfrm>
            <a:off x="3533502" y="251801"/>
            <a:ext cx="7563396" cy="829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100"/>
              </a:lnSpc>
              <a:defRPr sz="37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Reservoir Agent</a:t>
            </a:r>
          </a:p>
        </p:txBody>
      </p:sp>
      <p:sp>
        <p:nvSpPr>
          <p:cNvPr id="267" name="Freeform 2"/>
          <p:cNvSpPr/>
          <p:nvPr/>
        </p:nvSpPr>
        <p:spPr>
          <a:xfrm>
            <a:off x="854340" y="1575669"/>
            <a:ext cx="8288034" cy="620307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268" name="Freeform 3"/>
          <p:cNvSpPr/>
          <p:nvPr/>
        </p:nvSpPr>
        <p:spPr>
          <a:xfrm>
            <a:off x="9386614" y="5043783"/>
            <a:ext cx="4864755" cy="236285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defRPr sz="1400"/>
            </a:pPr>
          </a:p>
        </p:txBody>
      </p:sp>
      <p:sp>
        <p:nvSpPr>
          <p:cNvPr id="269" name="TextBox 8"/>
          <p:cNvSpPr txBox="1"/>
          <p:nvPr/>
        </p:nvSpPr>
        <p:spPr>
          <a:xfrm>
            <a:off x="9386616" y="1788586"/>
            <a:ext cx="4848530" cy="2421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200"/>
              </a:lnSpc>
              <a:defRPr b="1" sz="2200">
                <a:latin typeface="Canva Sans Bold"/>
                <a:ea typeface="Canva Sans Bold"/>
                <a:cs typeface="Canva Sans Bold"/>
                <a:sym typeface="Canva Sans Bold"/>
              </a:defRPr>
            </a:pPr>
            <a:r>
              <a:t>Model: </a:t>
            </a:r>
            <a:r>
              <a:rPr b="0">
                <a:latin typeface="Canva Sans"/>
                <a:ea typeface="Canva Sans"/>
                <a:cs typeface="Canva Sans"/>
                <a:sym typeface="Canva Sans"/>
              </a:rPr>
              <a:t>Residual CNN + MLP</a:t>
            </a:r>
            <a:endParaRPr b="0"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3200"/>
              </a:lnSpc>
              <a:defRPr b="1" sz="2200">
                <a:latin typeface="Canva Sans Bold"/>
                <a:ea typeface="Canva Sans Bold"/>
                <a:cs typeface="Canva Sans Bold"/>
                <a:sym typeface="Canva Sans Bold"/>
              </a:defRPr>
            </a:pPr>
            <a:r>
              <a:t>Target: </a:t>
            </a:r>
            <a:r>
              <a:rPr b="0">
                <a:latin typeface="Canva Sans"/>
                <a:ea typeface="Canva Sans"/>
                <a:cs typeface="Canva Sans"/>
                <a:sym typeface="Canva Sans"/>
              </a:rPr>
              <a:t>Porosity &amp; reservoir quality index</a:t>
            </a:r>
            <a:endParaRPr b="0"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3200"/>
              </a:lnSpc>
              <a:defRPr b="1" sz="2200">
                <a:latin typeface="Canva Sans Bold"/>
                <a:ea typeface="Canva Sans Bold"/>
                <a:cs typeface="Canva Sans Bold"/>
                <a:sym typeface="Canva Sans Bold"/>
              </a:defRPr>
            </a:pPr>
            <a:r>
              <a:t>Metrics:</a:t>
            </a:r>
          </a:p>
          <a:p>
            <a:pPr lvl="1" marL="494780" indent="-247390">
              <a:lnSpc>
                <a:spcPts val="3200"/>
              </a:lnSpc>
              <a:buSzPct val="100000"/>
              <a:buFont typeface="Arial"/>
              <a:buChar char="•"/>
              <a:defRPr b="1" sz="2200">
                <a:latin typeface="Canva Sans Bold"/>
                <a:ea typeface="Canva Sans Bold"/>
                <a:cs typeface="Canva Sans Bold"/>
                <a:sym typeface="Canva Sans Bold"/>
              </a:defRPr>
            </a:pPr>
            <a:r>
              <a:t>R² = </a:t>
            </a:r>
            <a:r>
              <a:rPr b="0">
                <a:latin typeface="Canva Sans"/>
                <a:ea typeface="Canva Sans"/>
                <a:cs typeface="Canva Sans"/>
                <a:sym typeface="Canva Sans"/>
              </a:rPr>
              <a:t>0.91</a:t>
            </a:r>
            <a:endParaRPr b="0">
              <a:latin typeface="Canva Sans"/>
              <a:ea typeface="Canva Sans"/>
              <a:cs typeface="Canva Sans"/>
              <a:sym typeface="Canva Sans"/>
            </a:endParaRPr>
          </a:p>
          <a:p>
            <a:pPr lvl="1" marL="494780" indent="-247390">
              <a:lnSpc>
                <a:spcPts val="3200"/>
              </a:lnSpc>
              <a:buSzPct val="100000"/>
              <a:buFont typeface="Arial"/>
              <a:buChar char="•"/>
              <a:defRPr b="1" sz="2200">
                <a:latin typeface="Canva Sans Bold"/>
                <a:ea typeface="Canva Sans Bold"/>
                <a:cs typeface="Canva Sans Bold"/>
                <a:sym typeface="Canva Sans Bold"/>
              </a:defRPr>
            </a:pPr>
            <a:r>
              <a:t>RMSE = </a:t>
            </a:r>
            <a:r>
              <a:rPr b="0">
                <a:latin typeface="Canva Sans"/>
                <a:ea typeface="Canva Sans"/>
                <a:cs typeface="Canva Sans"/>
                <a:sym typeface="Canva Sans"/>
              </a:rPr>
              <a:t>0.028</a:t>
            </a:r>
          </a:p>
        </p:txBody>
      </p:sp>
      <p:sp>
        <p:nvSpPr>
          <p:cNvPr id="270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2094547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Text 0"/>
          <p:cNvSpPr txBox="1"/>
          <p:nvPr/>
        </p:nvSpPr>
        <p:spPr>
          <a:xfrm>
            <a:off x="837723" y="2939414"/>
            <a:ext cx="2572328" cy="476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800"/>
              </a:lnSpc>
              <a:defRPr b="1" sz="31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Initial Results</a:t>
            </a:r>
          </a:p>
        </p:txBody>
      </p:sp>
      <p:sp>
        <p:nvSpPr>
          <p:cNvPr id="274" name="Text 1"/>
          <p:cNvSpPr txBox="1"/>
          <p:nvPr/>
        </p:nvSpPr>
        <p:spPr>
          <a:xfrm>
            <a:off x="837724" y="3683437"/>
            <a:ext cx="12954952" cy="51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Early validation demonstrates strong predictive performance across both classification and regression tasks. These models are under active development as we refine the complete end-to-end workflow.</a:t>
            </a:r>
          </a:p>
        </p:txBody>
      </p:sp>
      <p:sp>
        <p:nvSpPr>
          <p:cNvPr id="275" name="Shape 2"/>
          <p:cNvSpPr/>
          <p:nvPr/>
        </p:nvSpPr>
        <p:spPr>
          <a:xfrm>
            <a:off x="837723" y="4407932"/>
            <a:ext cx="6393657" cy="2976683"/>
          </a:xfrm>
          <a:prstGeom prst="roundRect">
            <a:avLst>
              <a:gd name="adj" fmla="val 844"/>
            </a:avLst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3"/>
          <p:cNvSpPr txBox="1"/>
          <p:nvPr/>
        </p:nvSpPr>
        <p:spPr>
          <a:xfrm>
            <a:off x="1005245" y="4575452"/>
            <a:ext cx="1696598" cy="236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sz="15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Petrophysical Agent</a:t>
            </a:r>
          </a:p>
        </p:txBody>
      </p:sp>
      <p:sp>
        <p:nvSpPr>
          <p:cNvPr id="277" name="Text 4"/>
          <p:cNvSpPr txBox="1"/>
          <p:nvPr/>
        </p:nvSpPr>
        <p:spPr>
          <a:xfrm>
            <a:off x="1005245" y="4922401"/>
            <a:ext cx="1874832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b="1" sz="1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Lithology Classification</a:t>
            </a:r>
          </a:p>
        </p:txBody>
      </p:sp>
      <p:sp>
        <p:nvSpPr>
          <p:cNvPr id="278" name="Text 5"/>
          <p:cNvSpPr txBox="1"/>
          <p:nvPr/>
        </p:nvSpPr>
        <p:spPr>
          <a:xfrm>
            <a:off x="1005245" y="5290899"/>
            <a:ext cx="3535952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Accuracy: 85.2% (↑3.2% from baseline RF)</a:t>
            </a:r>
          </a:p>
        </p:txBody>
      </p:sp>
      <p:sp>
        <p:nvSpPr>
          <p:cNvPr id="279" name="Text 6"/>
          <p:cNvSpPr txBox="1"/>
          <p:nvPr/>
        </p:nvSpPr>
        <p:spPr>
          <a:xfrm>
            <a:off x="1005245" y="5617488"/>
            <a:ext cx="1438505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F1 Score: 0.84</a:t>
            </a:r>
          </a:p>
        </p:txBody>
      </p:sp>
      <p:sp>
        <p:nvSpPr>
          <p:cNvPr id="280" name="Text 7"/>
          <p:cNvSpPr txBox="1"/>
          <p:nvPr/>
        </p:nvSpPr>
        <p:spPr>
          <a:xfrm>
            <a:off x="1005245" y="5944075"/>
            <a:ext cx="2608393" cy="251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Model Size: ~2.1M parameters</a:t>
            </a:r>
          </a:p>
        </p:txBody>
      </p:sp>
      <p:sp>
        <p:nvSpPr>
          <p:cNvPr id="281" name="Text 8"/>
          <p:cNvSpPr txBox="1"/>
          <p:nvPr/>
        </p:nvSpPr>
        <p:spPr>
          <a:xfrm>
            <a:off x="1005245" y="6312575"/>
            <a:ext cx="6058614" cy="51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00"/>
              </a:lnSpc>
              <a:defRPr b="1" sz="1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Per-Class Performance:</a:t>
            </a:r>
            <a:r>
              <a:rPr b="0"/>
              <a:t> Sand 89%, Halite 91%, Dolomite 86%, Clay 82%, Chalk 78%, Marl 81%</a:t>
            </a:r>
          </a:p>
        </p:txBody>
      </p:sp>
      <p:sp>
        <p:nvSpPr>
          <p:cNvPr id="282" name="Text 9"/>
          <p:cNvSpPr txBox="1"/>
          <p:nvPr/>
        </p:nvSpPr>
        <p:spPr>
          <a:xfrm>
            <a:off x="1005245" y="6949082"/>
            <a:ext cx="5013828" cy="251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MC Dropout with 20 iterations provides robust uncertainty estimates.</a:t>
            </a:r>
          </a:p>
        </p:txBody>
      </p:sp>
      <p:sp>
        <p:nvSpPr>
          <p:cNvPr id="283" name="Shape 10"/>
          <p:cNvSpPr/>
          <p:nvPr/>
        </p:nvSpPr>
        <p:spPr>
          <a:xfrm>
            <a:off x="7398901" y="4407932"/>
            <a:ext cx="6393775" cy="2976683"/>
          </a:xfrm>
          <a:prstGeom prst="roundRect">
            <a:avLst>
              <a:gd name="adj" fmla="val 844"/>
            </a:avLst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11"/>
          <p:cNvSpPr txBox="1"/>
          <p:nvPr/>
        </p:nvSpPr>
        <p:spPr>
          <a:xfrm>
            <a:off x="7566421" y="4575452"/>
            <a:ext cx="1368154" cy="236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sz="15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Reservoir Agent</a:t>
            </a:r>
          </a:p>
        </p:txBody>
      </p:sp>
      <p:sp>
        <p:nvSpPr>
          <p:cNvPr id="285" name="Text 12"/>
          <p:cNvSpPr txBox="1"/>
          <p:nvPr/>
        </p:nvSpPr>
        <p:spPr>
          <a:xfrm>
            <a:off x="7566421" y="4922401"/>
            <a:ext cx="1352204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b="1" sz="1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NPHI Regression</a:t>
            </a:r>
          </a:p>
        </p:txBody>
      </p:sp>
      <p:sp>
        <p:nvSpPr>
          <p:cNvPr id="286" name="Text 13"/>
          <p:cNvSpPr txBox="1"/>
          <p:nvPr/>
        </p:nvSpPr>
        <p:spPr>
          <a:xfrm>
            <a:off x="7566421" y="5290899"/>
            <a:ext cx="2686510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R² Score: 0.91 (validation: 0.92)</a:t>
            </a:r>
          </a:p>
        </p:txBody>
      </p:sp>
      <p:sp>
        <p:nvSpPr>
          <p:cNvPr id="287" name="Text 14"/>
          <p:cNvSpPr txBox="1"/>
          <p:nvPr/>
        </p:nvSpPr>
        <p:spPr>
          <a:xfrm>
            <a:off x="7566421" y="5617488"/>
            <a:ext cx="1337495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RMSE: 0.028</a:t>
            </a:r>
          </a:p>
        </p:txBody>
      </p:sp>
      <p:sp>
        <p:nvSpPr>
          <p:cNvPr id="288" name="Text 15"/>
          <p:cNvSpPr txBox="1"/>
          <p:nvPr/>
        </p:nvSpPr>
        <p:spPr>
          <a:xfrm>
            <a:off x="7566421" y="5944075"/>
            <a:ext cx="1218265" cy="251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MAE: 0.021</a:t>
            </a:r>
          </a:p>
        </p:txBody>
      </p:sp>
      <p:sp>
        <p:nvSpPr>
          <p:cNvPr id="289" name="Text 16"/>
          <p:cNvSpPr txBox="1"/>
          <p:nvPr/>
        </p:nvSpPr>
        <p:spPr>
          <a:xfrm>
            <a:off x="7566421" y="6312575"/>
            <a:ext cx="5114114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100"/>
              </a:lnSpc>
              <a:defRPr b="1" sz="1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defRPr>
            </a:pPr>
            <a:r>
              <a:t>Feature Importance:</a:t>
            </a:r>
            <a:r>
              <a:rPr b="0"/>
              <a:t> Bulk Density (32%), Lithology (18%), GR (14%)</a:t>
            </a:r>
          </a:p>
        </p:txBody>
      </p:sp>
      <p:sp>
        <p:nvSpPr>
          <p:cNvPr id="290" name="Text 17"/>
          <p:cNvSpPr txBox="1"/>
          <p:nvPr/>
        </p:nvSpPr>
        <p:spPr>
          <a:xfrm>
            <a:off x="7566421" y="6681072"/>
            <a:ext cx="6058735" cy="518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Ensemble architecture delivers 3–5% performance boost over single models, with exceptional generalization to held-out wells.</a:t>
            </a:r>
          </a:p>
        </p:txBody>
      </p:sp>
      <p:sp>
        <p:nvSpPr>
          <p:cNvPr id="291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7"/>
          <p:cNvSpPr txBox="1"/>
          <p:nvPr/>
        </p:nvSpPr>
        <p:spPr>
          <a:xfrm>
            <a:off x="3533502" y="251801"/>
            <a:ext cx="7563396" cy="829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100"/>
              </a:lnSpc>
              <a:defRPr sz="37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Sample Output</a:t>
            </a:r>
          </a:p>
        </p:txBody>
      </p:sp>
      <p:pic>
        <p:nvPicPr>
          <p:cNvPr id="29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3963" y="1837968"/>
            <a:ext cx="1194674" cy="1433513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63" y="3221030"/>
            <a:ext cx="1194674" cy="1433513"/>
          </a:xfrm>
          <a:prstGeom prst="rect">
            <a:avLst/>
          </a:prstGeom>
          <a:ln w="12700">
            <a:miter lim="400000"/>
          </a:ln>
        </p:spPr>
      </p:pic>
      <p:pic>
        <p:nvPicPr>
          <p:cNvPr id="29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13963" y="4679767"/>
            <a:ext cx="1194674" cy="1433513"/>
          </a:xfrm>
          <a:prstGeom prst="rect">
            <a:avLst/>
          </a:prstGeom>
          <a:ln w="12700">
            <a:miter lim="400000"/>
          </a:ln>
        </p:spPr>
      </p:pic>
      <p:pic>
        <p:nvPicPr>
          <p:cNvPr id="297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13963" y="6104872"/>
            <a:ext cx="1194674" cy="1433513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DRILLING DECISION REPORT…"/>
          <p:cNvSpPr txBox="1"/>
          <p:nvPr/>
        </p:nvSpPr>
        <p:spPr>
          <a:xfrm>
            <a:off x="1594464" y="1390693"/>
            <a:ext cx="4790552" cy="628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DRILLING DECISION REPORT</a:t>
            </a:r>
          </a:p>
          <a:p>
            <a:pPr/>
            <a:r>
              <a:t>========================</a:t>
            </a:r>
          </a:p>
          <a:p>
            <a:pPr/>
          </a:p>
          <a:p>
            <a:pPr/>
            <a:r>
              <a:t>Well: 15/9-19A</a:t>
            </a:r>
          </a:p>
          <a:p>
            <a:pPr/>
            <a:r>
              <a:t>Depth: 2,450m</a:t>
            </a:r>
          </a:p>
          <a:p>
            <a:pPr/>
            <a:r>
              <a:t>Date: 2024-11-17</a:t>
            </a:r>
          </a:p>
          <a:p>
            <a:pPr/>
          </a:p>
          <a:p>
            <a:pPr/>
            <a:r>
              <a:t>RECOMMENDATION: ✅ DRILL - HIGH PRIORITY</a:t>
            </a:r>
          </a:p>
          <a:p>
            <a:pPr/>
            <a:r>
              <a:t>Confidence: HIGH (Score: 78/100)</a:t>
            </a:r>
          </a:p>
          <a:p>
            <a:pPr/>
          </a:p>
          <a:p>
            <a:pPr/>
            <a:r>
              <a:t>GEOLOGICAL ASSESSMENT:</a:t>
            </a:r>
          </a:p>
          <a:p>
            <a:pPr/>
            <a:r>
              <a:t>  • Lithology: Sandstone (Agent 1 confidence: 92%)</a:t>
            </a:r>
          </a:p>
          <a:p>
            <a:pPr/>
            <a:r>
              <a:t>  • Porosity: 28% (Agent 2 R² = 0.91)</a:t>
            </a:r>
          </a:p>
          <a:p>
            <a:pPr/>
            <a:r>
              <a:t>  • Uncertainty: Low (MC Dropout σ = 0.03)</a:t>
            </a:r>
          </a:p>
          <a:p>
            <a:pPr/>
            <a:r>
              <a:t>  </a:t>
            </a:r>
          </a:p>
          <a:p>
            <a:pPr/>
            <a:r>
              <a:t>RESERVOIR QUALITY:</a:t>
            </a:r>
          </a:p>
          <a:p>
            <a:pPr/>
            <a:r>
              <a:t>  • Estimated Permeability: 500 mD (good)</a:t>
            </a:r>
          </a:p>
          <a:p>
            <a:pPr/>
            <a:r>
              <a:t>  • Expected Production: 450 BOPD</a:t>
            </a:r>
          </a:p>
          <a:p>
            <a:pPr/>
            <a:r>
              <a:t>  • Reservoir Grade: EXCELLENT</a:t>
            </a:r>
          </a:p>
          <a:p>
            <a:pPr/>
            <a:r>
              <a:t>  </a:t>
            </a:r>
          </a:p>
        </p:txBody>
      </p:sp>
      <p:sp>
        <p:nvSpPr>
          <p:cNvPr id="299" name="ECONOMIC ANALYSIS:…"/>
          <p:cNvSpPr txBox="1"/>
          <p:nvPr/>
        </p:nvSpPr>
        <p:spPr>
          <a:xfrm>
            <a:off x="6402678" y="1593720"/>
            <a:ext cx="6163715" cy="5882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ECONOMIC ANALYSIS:</a:t>
            </a:r>
          </a:p>
          <a:p>
            <a:pPr/>
            <a:r>
              <a:t>  • 10-Year NPV: $12.5M</a:t>
            </a:r>
          </a:p>
          <a:p>
            <a:pPr/>
            <a:r>
              <a:t>  • Drilling Cost: $4.2M</a:t>
            </a:r>
          </a:p>
          <a:p>
            <a:pPr/>
            <a:r>
              <a:t>  • Breakeven Oil Price: $42/bbl</a:t>
            </a:r>
          </a:p>
          <a:p>
            <a:pPr/>
            <a:r>
              <a:t>  • Current Oil Price: $85/bbl</a:t>
            </a:r>
          </a:p>
          <a:p>
            <a:pPr/>
            <a:r>
              <a:t>  • IRR: 28%</a:t>
            </a:r>
          </a:p>
          <a:p>
            <a:pPr/>
            <a:r>
              <a:t>  </a:t>
            </a:r>
          </a:p>
          <a:p>
            <a:pPr/>
            <a:r>
              <a:t>RISK ASSESSMENT:</a:t>
            </a:r>
          </a:p>
          <a:p>
            <a:pPr/>
            <a:r>
              <a:t>  • Technical Risk: LOW</a:t>
            </a:r>
          </a:p>
          <a:p>
            <a:pPr/>
            <a:r>
              <a:t>  • Geological Uncertainty: 3% (very confident)</a:t>
            </a:r>
          </a:p>
          <a:p>
            <a:pPr/>
            <a:r>
              <a:t>  • Market Risk: MEDIUM (oil price volatility)</a:t>
            </a:r>
          </a:p>
          <a:p>
            <a:pPr/>
            <a:r>
              <a:t>  • Environmental Risk: LOW (offshore location)</a:t>
            </a:r>
          </a:p>
          <a:p>
            <a:pPr/>
            <a:r>
              <a:t>  </a:t>
            </a:r>
          </a:p>
          <a:p>
            <a:pPr/>
            <a:r>
              <a:t>DECISION BASIS:</a:t>
            </a:r>
          </a:p>
          <a:p>
            <a:pPr/>
            <a:r>
              <a:t>  1. High-confidence sandstone prediction (89% Agent 1 accuracy)</a:t>
            </a:r>
          </a:p>
          <a:p>
            <a:pPr/>
            <a:r>
              <a:t>  2. Excellent porosity (top 20% of dataset distribution)</a:t>
            </a:r>
          </a:p>
          <a:p>
            <a:pPr/>
            <a:r>
              <a:t>  3. Strong economic returns at current oil prices</a:t>
            </a:r>
          </a:p>
          <a:p>
            <a:pPr/>
            <a:r>
              <a:t>  4. Low technical/geological uncertainty</a:t>
            </a:r>
          </a:p>
          <a:p>
            <a:pPr/>
            <a:r>
              <a:t>  5. Proven reservoir analog in nearby wells</a:t>
            </a:r>
          </a:p>
          <a:p>
            <a:pPr/>
            <a:r>
              <a:t> </a:t>
            </a:r>
          </a:p>
        </p:txBody>
      </p:sp>
      <p:sp>
        <p:nvSpPr>
          <p:cNvPr id="300" name="RECOMMENDED ACTIONS:…"/>
          <p:cNvSpPr txBox="1"/>
          <p:nvPr/>
        </p:nvSpPr>
        <p:spPr>
          <a:xfrm>
            <a:off x="10843705" y="1226998"/>
            <a:ext cx="3618931" cy="1957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RECOMMENDED ACTIONS:</a:t>
            </a:r>
          </a:p>
          <a:p>
            <a:pPr/>
            <a:r>
              <a:t>  ✅ Proceed with drilling operations</a:t>
            </a:r>
          </a:p>
          <a:p>
            <a:pPr/>
            <a:r>
              <a:t>  ✅ Allocate $4.2M budget</a:t>
            </a:r>
          </a:p>
          <a:p>
            <a:pPr/>
            <a:r>
              <a:t>  ✅ Target completion Q1 2025</a:t>
            </a:r>
          </a:p>
          <a:p>
            <a:pPr/>
            <a:r>
              <a:t>  ⚠️ Monitor oil price trends</a:t>
            </a:r>
          </a:p>
        </p:txBody>
      </p:sp>
      <p:sp>
        <p:nvSpPr>
          <p:cNvPr id="301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Text 0"/>
          <p:cNvSpPr txBox="1"/>
          <p:nvPr/>
        </p:nvSpPr>
        <p:spPr>
          <a:xfrm>
            <a:off x="6324124" y="2156698"/>
            <a:ext cx="4174778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Expected Impact</a:t>
            </a:r>
          </a:p>
        </p:txBody>
      </p:sp>
      <p:sp>
        <p:nvSpPr>
          <p:cNvPr id="305" name="Text 1"/>
          <p:cNvSpPr txBox="1"/>
          <p:nvPr/>
        </p:nvSpPr>
        <p:spPr>
          <a:xfrm>
            <a:off x="6674821" y="3339346"/>
            <a:ext cx="1588654" cy="811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6200"/>
              </a:lnSpc>
              <a:defRPr sz="6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306" name="Text 2"/>
          <p:cNvSpPr txBox="1"/>
          <p:nvPr/>
        </p:nvSpPr>
        <p:spPr>
          <a:xfrm>
            <a:off x="6515525" y="4428292"/>
            <a:ext cx="1907246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Faster Analysis</a:t>
            </a:r>
          </a:p>
        </p:txBody>
      </p:sp>
      <p:sp>
        <p:nvSpPr>
          <p:cNvPr id="307" name="Text 3"/>
          <p:cNvSpPr txBox="1"/>
          <p:nvPr/>
        </p:nvSpPr>
        <p:spPr>
          <a:xfrm>
            <a:off x="6324124" y="4923830"/>
            <a:ext cx="2290049" cy="1119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Reduced time from data collection to drilling decision</a:t>
            </a:r>
          </a:p>
        </p:txBody>
      </p:sp>
      <p:sp>
        <p:nvSpPr>
          <p:cNvPr id="308" name="Text 4"/>
          <p:cNvSpPr txBox="1"/>
          <p:nvPr/>
        </p:nvSpPr>
        <p:spPr>
          <a:xfrm>
            <a:off x="9264073" y="3339346"/>
            <a:ext cx="1588654" cy="811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6200"/>
              </a:lnSpc>
              <a:defRPr sz="6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309" name="Text 5"/>
          <p:cNvSpPr txBox="1"/>
          <p:nvPr/>
        </p:nvSpPr>
        <p:spPr>
          <a:xfrm>
            <a:off x="9096933" y="4428292"/>
            <a:ext cx="1922935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Cost Reduction</a:t>
            </a:r>
          </a:p>
        </p:txBody>
      </p:sp>
      <p:sp>
        <p:nvSpPr>
          <p:cNvPr id="310" name="Text 6"/>
          <p:cNvSpPr txBox="1"/>
          <p:nvPr/>
        </p:nvSpPr>
        <p:spPr>
          <a:xfrm>
            <a:off x="8913376" y="4923830"/>
            <a:ext cx="2290049" cy="1119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Fewer dry wells through improved targeting accuracy</a:t>
            </a:r>
          </a:p>
        </p:txBody>
      </p:sp>
      <p:sp>
        <p:nvSpPr>
          <p:cNvPr id="311" name="Text 7"/>
          <p:cNvSpPr txBox="1"/>
          <p:nvPr/>
        </p:nvSpPr>
        <p:spPr>
          <a:xfrm>
            <a:off x="11853325" y="3339346"/>
            <a:ext cx="1588654" cy="811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6200"/>
              </a:lnSpc>
              <a:defRPr sz="6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50%</a:t>
            </a:r>
          </a:p>
        </p:txBody>
      </p:sp>
      <p:sp>
        <p:nvSpPr>
          <p:cNvPr id="312" name="Text 8"/>
          <p:cNvSpPr txBox="1"/>
          <p:nvPr/>
        </p:nvSpPr>
        <p:spPr>
          <a:xfrm>
            <a:off x="11779432" y="4428292"/>
            <a:ext cx="1736441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Success Rate</a:t>
            </a:r>
          </a:p>
        </p:txBody>
      </p:sp>
      <p:sp>
        <p:nvSpPr>
          <p:cNvPr id="313" name="Text 9"/>
          <p:cNvSpPr txBox="1"/>
          <p:nvPr/>
        </p:nvSpPr>
        <p:spPr>
          <a:xfrm>
            <a:off x="11502628" y="4923830"/>
            <a:ext cx="2290049" cy="1119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Increased probability of discovering viable reserves</a:t>
            </a:r>
          </a:p>
        </p:txBody>
      </p:sp>
      <p:sp>
        <p:nvSpPr>
          <p:cNvPr id="314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 txBox="1"/>
          <p:nvPr/>
        </p:nvSpPr>
        <p:spPr>
          <a:xfrm>
            <a:off x="837724" y="2087522"/>
            <a:ext cx="4392514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Technology Stack</a:t>
            </a:r>
          </a:p>
        </p:txBody>
      </p:sp>
      <p:sp>
        <p:nvSpPr>
          <p:cNvPr id="317" name="Shape 1"/>
          <p:cNvSpPr/>
          <p:nvPr/>
        </p:nvSpPr>
        <p:spPr>
          <a:xfrm>
            <a:off x="837723" y="3629262"/>
            <a:ext cx="4158736" cy="2512816"/>
          </a:xfrm>
          <a:prstGeom prst="roundRect">
            <a:avLst>
              <a:gd name="adj" fmla="val 5822"/>
            </a:avLst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Shape 2"/>
          <p:cNvSpPr/>
          <p:nvPr/>
        </p:nvSpPr>
        <p:spPr>
          <a:xfrm>
            <a:off x="837723" y="3598783"/>
            <a:ext cx="4158736" cy="121921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Shape 3"/>
          <p:cNvSpPr/>
          <p:nvPr/>
        </p:nvSpPr>
        <p:spPr>
          <a:xfrm>
            <a:off x="2557997" y="3270289"/>
            <a:ext cx="718067" cy="718067"/>
          </a:xfrm>
          <a:prstGeom prst="roundRect">
            <a:avLst>
              <a:gd name="adj" fmla="val 50000"/>
            </a:avLst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73382" y="3485674"/>
            <a:ext cx="287180" cy="287180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Text 4"/>
          <p:cNvSpPr txBox="1"/>
          <p:nvPr/>
        </p:nvSpPr>
        <p:spPr>
          <a:xfrm>
            <a:off x="1107518" y="4227671"/>
            <a:ext cx="2233850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Machine Learning</a:t>
            </a:r>
          </a:p>
        </p:txBody>
      </p:sp>
      <p:sp>
        <p:nvSpPr>
          <p:cNvPr id="322" name="Text 5"/>
          <p:cNvSpPr txBox="1"/>
          <p:nvPr/>
        </p:nvSpPr>
        <p:spPr>
          <a:xfrm>
            <a:off x="1107519" y="4723208"/>
            <a:ext cx="3619144" cy="1119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Deep learning models for seismic interpretation and pattern recognition in geological data.</a:t>
            </a:r>
          </a:p>
        </p:txBody>
      </p:sp>
      <p:sp>
        <p:nvSpPr>
          <p:cNvPr id="323" name="Shape 6"/>
          <p:cNvSpPr/>
          <p:nvPr/>
        </p:nvSpPr>
        <p:spPr>
          <a:xfrm>
            <a:off x="5235773" y="3629262"/>
            <a:ext cx="4158735" cy="2512816"/>
          </a:xfrm>
          <a:prstGeom prst="roundRect">
            <a:avLst>
              <a:gd name="adj" fmla="val 5822"/>
            </a:avLst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Shape 7"/>
          <p:cNvSpPr/>
          <p:nvPr/>
        </p:nvSpPr>
        <p:spPr>
          <a:xfrm>
            <a:off x="5235773" y="3598783"/>
            <a:ext cx="4158735" cy="121921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5" name="Shape 8"/>
          <p:cNvSpPr/>
          <p:nvPr/>
        </p:nvSpPr>
        <p:spPr>
          <a:xfrm>
            <a:off x="6956048" y="3270289"/>
            <a:ext cx="718067" cy="718067"/>
          </a:xfrm>
          <a:prstGeom prst="roundRect">
            <a:avLst>
              <a:gd name="adj" fmla="val 50000"/>
            </a:avLst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2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71432" y="3485674"/>
            <a:ext cx="287180" cy="287180"/>
          </a:xfrm>
          <a:prstGeom prst="rect">
            <a:avLst/>
          </a:prstGeom>
          <a:ln w="12700">
            <a:miter lim="400000"/>
          </a:ln>
        </p:spPr>
      </p:pic>
      <p:sp>
        <p:nvSpPr>
          <p:cNvPr id="327" name="Text 9"/>
          <p:cNvSpPr txBox="1"/>
          <p:nvPr/>
        </p:nvSpPr>
        <p:spPr>
          <a:xfrm>
            <a:off x="5505568" y="4227671"/>
            <a:ext cx="2171503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Cloud Computing</a:t>
            </a:r>
          </a:p>
        </p:txBody>
      </p:sp>
      <p:sp>
        <p:nvSpPr>
          <p:cNvPr id="328" name="Text 10"/>
          <p:cNvSpPr txBox="1"/>
          <p:nvPr/>
        </p:nvSpPr>
        <p:spPr>
          <a:xfrm>
            <a:off x="5505568" y="4723208"/>
            <a:ext cx="3619145" cy="1119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Scalable infrastructure for processing massive datasets and running complex simulations.</a:t>
            </a:r>
          </a:p>
        </p:txBody>
      </p:sp>
      <p:sp>
        <p:nvSpPr>
          <p:cNvPr id="329" name="Shape 11"/>
          <p:cNvSpPr/>
          <p:nvPr/>
        </p:nvSpPr>
        <p:spPr>
          <a:xfrm>
            <a:off x="9633822" y="3629262"/>
            <a:ext cx="4158854" cy="2512816"/>
          </a:xfrm>
          <a:prstGeom prst="roundRect">
            <a:avLst>
              <a:gd name="adj" fmla="val 5822"/>
            </a:avLst>
          </a:prstGeom>
          <a:solidFill>
            <a:srgbClr val="FEF5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Shape 12"/>
          <p:cNvSpPr/>
          <p:nvPr/>
        </p:nvSpPr>
        <p:spPr>
          <a:xfrm>
            <a:off x="9633822" y="3598783"/>
            <a:ext cx="4158854" cy="121921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Shape 13"/>
          <p:cNvSpPr/>
          <p:nvPr/>
        </p:nvSpPr>
        <p:spPr>
          <a:xfrm>
            <a:off x="11354217" y="3270289"/>
            <a:ext cx="718067" cy="718067"/>
          </a:xfrm>
          <a:prstGeom prst="roundRect">
            <a:avLst>
              <a:gd name="adj" fmla="val 50000"/>
            </a:avLst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32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569600" y="3485674"/>
            <a:ext cx="287180" cy="287180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Text 14"/>
          <p:cNvSpPr txBox="1"/>
          <p:nvPr/>
        </p:nvSpPr>
        <p:spPr>
          <a:xfrm>
            <a:off x="9903618" y="4227671"/>
            <a:ext cx="2301380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Visualization Tools</a:t>
            </a:r>
          </a:p>
        </p:txBody>
      </p:sp>
      <p:sp>
        <p:nvSpPr>
          <p:cNvPr id="334" name="Text 15"/>
          <p:cNvSpPr txBox="1"/>
          <p:nvPr/>
        </p:nvSpPr>
        <p:spPr>
          <a:xfrm>
            <a:off x="9903618" y="4723208"/>
            <a:ext cx="3619263" cy="1500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Interactive dashboards for exploring results and understanding AI recommendations.</a:t>
            </a:r>
          </a:p>
        </p:txBody>
      </p:sp>
      <p:sp>
        <p:nvSpPr>
          <p:cNvPr id="335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 0"/>
          <p:cNvSpPr txBox="1"/>
          <p:nvPr/>
        </p:nvSpPr>
        <p:spPr>
          <a:xfrm>
            <a:off x="837724" y="1304329"/>
            <a:ext cx="7032626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Roadmap to Implementation</a:t>
            </a:r>
          </a:p>
        </p:txBody>
      </p:sp>
      <p:sp>
        <p:nvSpPr>
          <p:cNvPr id="338" name="Shape 1"/>
          <p:cNvSpPr/>
          <p:nvPr/>
        </p:nvSpPr>
        <p:spPr>
          <a:xfrm>
            <a:off x="837723" y="4706182"/>
            <a:ext cx="12954953" cy="30481"/>
          </a:xfrm>
          <a:prstGeom prst="roundRect">
            <a:avLst>
              <a:gd name="adj" fmla="val 50000"/>
            </a:avLst>
          </a:prstGeom>
          <a:solidFill>
            <a:srgbClr val="D9CDB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Shape 2"/>
          <p:cNvSpPr/>
          <p:nvPr/>
        </p:nvSpPr>
        <p:spPr>
          <a:xfrm>
            <a:off x="3323511" y="3988177"/>
            <a:ext cx="30481" cy="718067"/>
          </a:xfrm>
          <a:prstGeom prst="roundRect">
            <a:avLst>
              <a:gd name="adj" fmla="val 50000"/>
            </a:avLst>
          </a:prstGeom>
          <a:solidFill>
            <a:srgbClr val="D9CDB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Shape 3"/>
          <p:cNvSpPr/>
          <p:nvPr/>
        </p:nvSpPr>
        <p:spPr>
          <a:xfrm>
            <a:off x="3069550" y="4436924"/>
            <a:ext cx="538521" cy="538521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Text 4"/>
          <p:cNvSpPr txBox="1"/>
          <p:nvPr/>
        </p:nvSpPr>
        <p:spPr>
          <a:xfrm>
            <a:off x="3240579" y="4494907"/>
            <a:ext cx="196343" cy="34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42" name="Text 5"/>
          <p:cNvSpPr txBox="1"/>
          <p:nvPr/>
        </p:nvSpPr>
        <p:spPr>
          <a:xfrm>
            <a:off x="1919148" y="2487097"/>
            <a:ext cx="2839443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Phase 1: Development</a:t>
            </a:r>
          </a:p>
        </p:txBody>
      </p:sp>
      <p:sp>
        <p:nvSpPr>
          <p:cNvPr id="343" name="Text 6"/>
          <p:cNvSpPr txBox="1"/>
          <p:nvPr/>
        </p:nvSpPr>
        <p:spPr>
          <a:xfrm>
            <a:off x="1077038" y="2982634"/>
            <a:ext cx="4523782" cy="738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Build and train individual AI agents using historical exploration data.</a:t>
            </a:r>
          </a:p>
        </p:txBody>
      </p:sp>
      <p:sp>
        <p:nvSpPr>
          <p:cNvPr id="344" name="Shape 7"/>
          <p:cNvSpPr/>
          <p:nvPr/>
        </p:nvSpPr>
        <p:spPr>
          <a:xfrm>
            <a:off x="5974317" y="4706123"/>
            <a:ext cx="30481" cy="718067"/>
          </a:xfrm>
          <a:prstGeom prst="roundRect">
            <a:avLst>
              <a:gd name="adj" fmla="val 50000"/>
            </a:avLst>
          </a:prstGeom>
          <a:solidFill>
            <a:srgbClr val="D9CDB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Shape 8"/>
          <p:cNvSpPr/>
          <p:nvPr/>
        </p:nvSpPr>
        <p:spPr>
          <a:xfrm>
            <a:off x="5720357" y="4436924"/>
            <a:ext cx="538521" cy="538521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9"/>
          <p:cNvSpPr txBox="1"/>
          <p:nvPr/>
        </p:nvSpPr>
        <p:spPr>
          <a:xfrm>
            <a:off x="5891386" y="4494907"/>
            <a:ext cx="196343" cy="34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47" name="Text 10"/>
          <p:cNvSpPr txBox="1"/>
          <p:nvPr/>
        </p:nvSpPr>
        <p:spPr>
          <a:xfrm>
            <a:off x="4732975" y="5663684"/>
            <a:ext cx="2513522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Phase 2: Integration</a:t>
            </a:r>
          </a:p>
        </p:txBody>
      </p:sp>
      <p:sp>
        <p:nvSpPr>
          <p:cNvPr id="348" name="Text 11"/>
          <p:cNvSpPr txBox="1"/>
          <p:nvPr/>
        </p:nvSpPr>
        <p:spPr>
          <a:xfrm>
            <a:off x="3727846" y="6159222"/>
            <a:ext cx="4523781" cy="738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Connect agents into unified system and develop explanation framework.</a:t>
            </a:r>
          </a:p>
        </p:txBody>
      </p:sp>
      <p:sp>
        <p:nvSpPr>
          <p:cNvPr id="349" name="Shape 12"/>
          <p:cNvSpPr/>
          <p:nvPr/>
        </p:nvSpPr>
        <p:spPr>
          <a:xfrm>
            <a:off x="8625126" y="3988177"/>
            <a:ext cx="30481" cy="718067"/>
          </a:xfrm>
          <a:prstGeom prst="roundRect">
            <a:avLst>
              <a:gd name="adj" fmla="val 50000"/>
            </a:avLst>
          </a:prstGeom>
          <a:solidFill>
            <a:srgbClr val="D9CDB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Shape 13"/>
          <p:cNvSpPr/>
          <p:nvPr/>
        </p:nvSpPr>
        <p:spPr>
          <a:xfrm>
            <a:off x="8371165" y="4436924"/>
            <a:ext cx="538520" cy="538521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14"/>
          <p:cNvSpPr txBox="1"/>
          <p:nvPr/>
        </p:nvSpPr>
        <p:spPr>
          <a:xfrm>
            <a:off x="8542194" y="4494907"/>
            <a:ext cx="196343" cy="34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52" name="Text 15"/>
          <p:cNvSpPr txBox="1"/>
          <p:nvPr/>
        </p:nvSpPr>
        <p:spPr>
          <a:xfrm>
            <a:off x="7440673" y="2487097"/>
            <a:ext cx="2399743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Phase 3: Validation</a:t>
            </a:r>
          </a:p>
        </p:txBody>
      </p:sp>
      <p:sp>
        <p:nvSpPr>
          <p:cNvPr id="353" name="Text 16"/>
          <p:cNvSpPr txBox="1"/>
          <p:nvPr/>
        </p:nvSpPr>
        <p:spPr>
          <a:xfrm>
            <a:off x="6378654" y="2982634"/>
            <a:ext cx="4523781" cy="738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Test system on real-world cases and refine based on expert feedback.</a:t>
            </a:r>
          </a:p>
        </p:txBody>
      </p:sp>
      <p:sp>
        <p:nvSpPr>
          <p:cNvPr id="354" name="Shape 17"/>
          <p:cNvSpPr/>
          <p:nvPr/>
        </p:nvSpPr>
        <p:spPr>
          <a:xfrm>
            <a:off x="11275932" y="4706123"/>
            <a:ext cx="30481" cy="718067"/>
          </a:xfrm>
          <a:prstGeom prst="roundRect">
            <a:avLst>
              <a:gd name="adj" fmla="val 50000"/>
            </a:avLst>
          </a:prstGeom>
          <a:solidFill>
            <a:srgbClr val="D9CDB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Shape 18"/>
          <p:cNvSpPr/>
          <p:nvPr/>
        </p:nvSpPr>
        <p:spPr>
          <a:xfrm>
            <a:off x="11021972" y="4436924"/>
            <a:ext cx="538521" cy="538521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19"/>
          <p:cNvSpPr txBox="1"/>
          <p:nvPr/>
        </p:nvSpPr>
        <p:spPr>
          <a:xfrm>
            <a:off x="11193001" y="4494907"/>
            <a:ext cx="196342" cy="34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57" name="Text 20"/>
          <p:cNvSpPr txBox="1"/>
          <p:nvPr/>
        </p:nvSpPr>
        <p:spPr>
          <a:xfrm>
            <a:off x="9949324" y="5663684"/>
            <a:ext cx="2684054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Phase 4: Deployment</a:t>
            </a:r>
          </a:p>
        </p:txBody>
      </p:sp>
      <p:sp>
        <p:nvSpPr>
          <p:cNvPr id="358" name="Text 21"/>
          <p:cNvSpPr txBox="1"/>
          <p:nvPr/>
        </p:nvSpPr>
        <p:spPr>
          <a:xfrm>
            <a:off x="9029461" y="6159222"/>
            <a:ext cx="4523782" cy="738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0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Roll out to exploration teams and provide training for effective use.</a:t>
            </a:r>
          </a:p>
        </p:txBody>
      </p:sp>
      <p:sp>
        <p:nvSpPr>
          <p:cNvPr id="359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2937749"/>
          </a:xfrm>
          <a:prstGeom prst="rect">
            <a:avLst/>
          </a:prstGeom>
          <a:ln w="12700">
            <a:miter lim="400000"/>
          </a:ln>
        </p:spPr>
      </p:pic>
      <p:sp>
        <p:nvSpPr>
          <p:cNvPr id="362" name="Text 0"/>
          <p:cNvSpPr txBox="1"/>
          <p:nvPr/>
        </p:nvSpPr>
        <p:spPr>
          <a:xfrm>
            <a:off x="822483" y="3584018"/>
            <a:ext cx="9371597" cy="674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Transforming Hydrocarbon Exploration</a:t>
            </a:r>
          </a:p>
        </p:txBody>
      </p:sp>
      <p:sp>
        <p:nvSpPr>
          <p:cNvPr id="363" name="Text 1"/>
          <p:cNvSpPr txBox="1"/>
          <p:nvPr/>
        </p:nvSpPr>
        <p:spPr>
          <a:xfrm>
            <a:off x="1174909" y="4892040"/>
            <a:ext cx="12633008" cy="715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</a:lstStyle>
          <a:p>
            <a:pPr/>
            <a:r>
              <a:t>Our multi-agent AI system combines cutting-edge technology with industry expertise to make hydrocarbon exploration faster, smarter, and more transparent.</a:t>
            </a:r>
          </a:p>
        </p:txBody>
      </p:sp>
      <p:sp>
        <p:nvSpPr>
          <p:cNvPr id="364" name="Shape 2"/>
          <p:cNvSpPr/>
          <p:nvPr/>
        </p:nvSpPr>
        <p:spPr>
          <a:xfrm>
            <a:off x="822484" y="4627721"/>
            <a:ext cx="30481" cy="1280637"/>
          </a:xfrm>
          <a:prstGeom prst="rect">
            <a:avLst/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6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22484" y="6202084"/>
            <a:ext cx="234911" cy="234912"/>
          </a:xfrm>
          <a:prstGeom prst="rect">
            <a:avLst/>
          </a:prstGeom>
          <a:ln w="12700">
            <a:miter lim="400000"/>
          </a:ln>
        </p:spPr>
      </p:pic>
      <p:sp>
        <p:nvSpPr>
          <p:cNvPr id="366" name="Shape 3"/>
          <p:cNvSpPr/>
          <p:nvPr/>
        </p:nvSpPr>
        <p:spPr>
          <a:xfrm>
            <a:off x="822483" y="6541531"/>
            <a:ext cx="4171833" cy="30481"/>
          </a:xfrm>
          <a:prstGeom prst="rect">
            <a:avLst/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7" name="Text 4"/>
          <p:cNvSpPr txBox="1"/>
          <p:nvPr/>
        </p:nvSpPr>
        <p:spPr>
          <a:xfrm>
            <a:off x="822483" y="6719888"/>
            <a:ext cx="4171833" cy="678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1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Precision targeting of drilling locations</a:t>
            </a:r>
          </a:p>
        </p:txBody>
      </p:sp>
      <p:pic>
        <p:nvPicPr>
          <p:cNvPr id="36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29225" y="6202084"/>
            <a:ext cx="234911" cy="234912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Shape 5"/>
          <p:cNvSpPr/>
          <p:nvPr/>
        </p:nvSpPr>
        <p:spPr>
          <a:xfrm>
            <a:off x="5229224" y="6541531"/>
            <a:ext cx="4171833" cy="30481"/>
          </a:xfrm>
          <a:prstGeom prst="rect">
            <a:avLst/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6"/>
          <p:cNvSpPr txBox="1"/>
          <p:nvPr/>
        </p:nvSpPr>
        <p:spPr>
          <a:xfrm>
            <a:off x="5229224" y="6719888"/>
            <a:ext cx="3866438" cy="335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Comprehensive risk assessment</a:t>
            </a:r>
          </a:p>
        </p:txBody>
      </p:sp>
      <p:pic>
        <p:nvPicPr>
          <p:cNvPr id="371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635966" y="6202084"/>
            <a:ext cx="234911" cy="234912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Shape 7"/>
          <p:cNvSpPr/>
          <p:nvPr/>
        </p:nvSpPr>
        <p:spPr>
          <a:xfrm>
            <a:off x="9635966" y="6541531"/>
            <a:ext cx="4171832" cy="30481"/>
          </a:xfrm>
          <a:prstGeom prst="rect">
            <a:avLst/>
          </a:prstGeom>
          <a:solidFill>
            <a:srgbClr val="3851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3" name="Text 8"/>
          <p:cNvSpPr txBox="1"/>
          <p:nvPr/>
        </p:nvSpPr>
        <p:spPr>
          <a:xfrm>
            <a:off x="9635966" y="6719888"/>
            <a:ext cx="4171832" cy="678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1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defRPr>
            </a:lvl1pPr>
          </a:lstStyle>
          <a:p>
            <a:pPr/>
            <a:r>
              <a:t>Full transparency in decision-making</a:t>
            </a:r>
          </a:p>
        </p:txBody>
      </p:sp>
      <p:sp>
        <p:nvSpPr>
          <p:cNvPr id="374" name="Rectangle"/>
          <p:cNvSpPr/>
          <p:nvPr/>
        </p:nvSpPr>
        <p:spPr>
          <a:xfrm>
            <a:off x="12728030" y="7610462"/>
            <a:ext cx="2297165" cy="575402"/>
          </a:xfrm>
          <a:prstGeom prst="rect">
            <a:avLst/>
          </a:prstGeom>
          <a:solidFill>
            <a:srgbClr val="FEF5E7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